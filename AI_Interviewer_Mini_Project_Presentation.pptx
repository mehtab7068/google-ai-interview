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Good morning. My mini project is AI Interviewer, a web application for practicing technical interviews. I will explain the problem it addresses, how a user completes an interview, and the technology behind the application. Replace the name and college placeholders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teacher how the presentation is organized. This roadmap follows the same order as the product: why it is needed, how it works, and how it is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challenge in everyday language. A person preparing alone may not know whether an answer is clear, technically strong, or complete. The project creates a repeatable practice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what is included in the mini project. Emphasize that the focus is a practical interview practice loop, not replacing a human recruiter or guaranteeing a job.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from left to right. The browser is the user interface. The Express API handles application requests and sessions. MongoDB stores users and interviews. The Python AI service generates questions, transcribes audio, and evaluates answers. Explain that the frontend communicates with backend APIs; the AI service is called by the server side.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each technology by its role rather than reading a list. React renders the interface; Express provides the main API; MongoDB persists records; FastAPI hosts the AI endpoints. Monaco Editor is used for coding.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high-level workflow. The next slides zoom into each stage. Point out that the application preserves the session and lets the user review it after completing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the sign-up and sign-in options. Google login is also available. A profile stores the user's preferred role, which can make the dashboard setup quicker.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dashboard, choose the job role, seniority, interview type, and question count, then start. Mention that the dashboard also shows prior sessions so users can continue or review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chosen role, level, count, and interview type are sent for question generation. Oral-only produces conceptual questions. Coding mix combines coding challenges and oral questions. The service uses Gemini and retries selected temporary failures.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how users move between numbered questions. They can record a spoken answer or enter code for coding questions. The interface displays progress and disables an already-submitted answer while evaluation is running.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audio pipeline. The browser asks for microphone permission and records audio. The submitted audio is validated and converted to mono 16 kHz WAV by the AI service before transcription. The transcript is then available for evaluation. This explains why voice answers need microphone permission.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code questions, the app provides Monaco Editor, the code editor used in VS Code. Users can select from several language modes. They submit their code as part of the answer for AI evaluation; avoid implying that code is executed in a sandbox unless specifically configured.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response includes a technical score, confidence score, feedback, and an ideal answer. Explain that these are practice aids generated by AI and should be treated as guidance, not as a definitive hiring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 page summarizes overall score, average technical score, confidence, and session duration. A chart shows question-level technical scores. Users can revisit the question, their answer, AI feedback, and ideal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UI additions included in the project: a responsive layout, session cards, animated transitions and subtle hover effects, and four persistent accent themes. The themes are Midnight, Ocean, Sunset, and Forest. Motion respects reduced-motion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safeguards documented in the project. Mention that secrets are configured through environment variables, not shown to users. Authentication and protected routes, request limits, audio upload size limits, temporary-file cleanup, and retry handling support more reliable usage. Do not claim that any system is completely secure.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your live-demo checklist. Say each numbered sentence while performing that action. If internet or AI is unavailable, explain the step from the screenshots/code and continue; do not wait silently for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To conclude, AI Interviewer turns technical interview preparation into a structured repeatable practice loop. It generates role-specific questions, supports voice and coding answers, and provides feedback that users can review. My future plans are testing, scalability, analytics, and mock mode. Thank you. I am happy to answer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7863840" y="-1645920"/>
            <a:ext cx="5852160" cy="5852160"/>
          </a:xfrm>
          <a:prstGeom prst="ellipse">
            <a:avLst/>
          </a:prstGeom>
          <a:solidFill>
            <a:srgbClr val="14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86800" y="-822960"/>
            <a:ext cx="4206240" cy="4206240"/>
          </a:xfrm>
          <a:prstGeom prst="ellipse">
            <a:avLst/>
          </a:prstGeom>
          <a:solidFill>
            <a:srgbClr val="1D2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64040" y="-45720"/>
            <a:ext cx="2651760" cy="2651760"/>
          </a:xfrm>
          <a:prstGeom prst="ellipse">
            <a:avLst/>
          </a:prstGeom>
          <a:solidFill>
            <a:srgbClr val="2820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60920" y="2971800"/>
            <a:ext cx="3886200" cy="2057400"/>
          </a:xfrm>
          <a:prstGeom prst="roundRect">
            <a:avLst>
              <a:gd name="adj" fmla="val 14000"/>
            </a:avLst>
          </a:prstGeom>
          <a:solidFill>
            <a:srgbClr val="111A2E"/>
          </a:solidFill>
          <a:ln w="12700">
            <a:solidFill>
              <a:srgbClr val="33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54112" y="3264408"/>
            <a:ext cx="1051560" cy="777240"/>
          </a:xfrm>
          <a:prstGeom prst="rect">
            <a:avLst/>
          </a:prstGeom>
          <a:noFill/>
        </p:spPr>
        <p:txBody>
          <a:bodyPr wrap="square" lIns="0" rIns="0" tIns="0" bIns="0" anchor="t">
            <a:spAutoFit/>
          </a:bodyPr>
          <a:lstStyle/>
          <a:p>
            <a:pPr algn="l">
              <a:spcAft>
                <a:spcPts val="300"/>
              </a:spcAft>
            </a:pPr>
            <a:r>
              <a:rPr sz="4600" b="1">
                <a:solidFill>
                  <a:srgbClr val="55D6E8"/>
                </a:solidFill>
                <a:latin typeface="Aptos"/>
              </a:rPr>
              <a:t>AI</a:t>
            </a:r>
          </a:p>
        </p:txBody>
      </p:sp>
      <p:sp>
        <p:nvSpPr>
          <p:cNvPr id="7" name="TextBox 6"/>
          <p:cNvSpPr txBox="1"/>
          <p:nvPr/>
        </p:nvSpPr>
        <p:spPr>
          <a:xfrm>
            <a:off x="8723376" y="3456432"/>
            <a:ext cx="2148840" cy="365760"/>
          </a:xfrm>
          <a:prstGeom prst="rect">
            <a:avLst/>
          </a:prstGeom>
          <a:noFill/>
        </p:spPr>
        <p:txBody>
          <a:bodyPr wrap="square" lIns="0" rIns="0" tIns="0" bIns="0" anchor="t">
            <a:spAutoFit/>
          </a:bodyPr>
          <a:lstStyle/>
          <a:p>
            <a:pPr algn="l">
              <a:spcAft>
                <a:spcPts val="300"/>
              </a:spcAft>
            </a:pPr>
            <a:r>
              <a:rPr sz="1900" b="1">
                <a:solidFill>
                  <a:srgbClr val="F4F7FF"/>
                </a:solidFill>
                <a:latin typeface="Aptos"/>
              </a:rPr>
              <a:t>INTERVIEWER</a:t>
            </a:r>
          </a:p>
        </p:txBody>
      </p:sp>
      <p:sp>
        <p:nvSpPr>
          <p:cNvPr id="8" name="TextBox 7"/>
          <p:cNvSpPr txBox="1"/>
          <p:nvPr/>
        </p:nvSpPr>
        <p:spPr>
          <a:xfrm>
            <a:off x="7754112" y="4187952"/>
            <a:ext cx="3108960" cy="502920"/>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AI-powered technical interview practice</a:t>
            </a:r>
          </a:p>
        </p:txBody>
      </p:sp>
      <p:sp>
        <p:nvSpPr>
          <p:cNvPr id="9" name="TextBox 8"/>
          <p:cNvSpPr txBox="1"/>
          <p:nvPr/>
        </p:nvSpPr>
        <p:spPr>
          <a:xfrm>
            <a:off x="749808" y="749808"/>
            <a:ext cx="5852160" cy="256032"/>
          </a:xfrm>
          <a:prstGeom prst="rect">
            <a:avLst/>
          </a:prstGeom>
          <a:noFill/>
        </p:spPr>
        <p:txBody>
          <a:bodyPr wrap="square" lIns="0" rIns="0" tIns="0" bIns="0" anchor="t">
            <a:spAutoFit/>
          </a:bodyPr>
          <a:lstStyle/>
          <a:p>
            <a:pPr algn="l">
              <a:spcAft>
                <a:spcPts val="300"/>
              </a:spcAft>
            </a:pPr>
            <a:r>
              <a:rPr sz="1100" b="1">
                <a:solidFill>
                  <a:srgbClr val="55D6E8"/>
                </a:solidFill>
                <a:latin typeface="Aptos"/>
              </a:rPr>
              <a:t>MINI PROJECT  /  PRESENTATION</a:t>
            </a:r>
          </a:p>
        </p:txBody>
      </p:sp>
      <p:sp>
        <p:nvSpPr>
          <p:cNvPr id="10" name="TextBox 9"/>
          <p:cNvSpPr txBox="1"/>
          <p:nvPr/>
        </p:nvSpPr>
        <p:spPr>
          <a:xfrm>
            <a:off x="749808" y="1389888"/>
            <a:ext cx="6720840" cy="1600200"/>
          </a:xfrm>
          <a:prstGeom prst="rect">
            <a:avLst/>
          </a:prstGeom>
          <a:noFill/>
        </p:spPr>
        <p:txBody>
          <a:bodyPr wrap="square" lIns="0" rIns="0" tIns="0" bIns="0" anchor="t">
            <a:spAutoFit/>
          </a:bodyPr>
          <a:lstStyle/>
          <a:p>
            <a:pPr algn="l">
              <a:spcAft>
                <a:spcPts val="300"/>
              </a:spcAft>
            </a:pPr>
            <a:r>
              <a:rPr sz="3400" b="1">
                <a:solidFill>
                  <a:srgbClr val="F4F7FF"/>
                </a:solidFill>
                <a:latin typeface="Aptos"/>
              </a:rPr>
              <a:t>Practice smarter.</a:t>
            </a:r>
          </a:p>
          <a:p>
            <a:pPr algn="l">
              <a:spcAft>
                <a:spcPts val="300"/>
              </a:spcAft>
            </a:pPr>
            <a:r>
              <a:rPr sz="3400" b="1">
                <a:solidFill>
                  <a:srgbClr val="F4F7FF"/>
                </a:solidFill>
                <a:latin typeface="Aptos"/>
              </a:rPr>
              <a:t>Interview with confidence.</a:t>
            </a:r>
          </a:p>
        </p:txBody>
      </p:sp>
      <p:sp>
        <p:nvSpPr>
          <p:cNvPr id="11" name="TextBox 10"/>
          <p:cNvSpPr txBox="1"/>
          <p:nvPr/>
        </p:nvSpPr>
        <p:spPr>
          <a:xfrm>
            <a:off x="777240" y="3218688"/>
            <a:ext cx="5715000" cy="868680"/>
          </a:xfrm>
          <a:prstGeom prst="rect">
            <a:avLst/>
          </a:prstGeom>
          <a:noFill/>
        </p:spPr>
        <p:txBody>
          <a:bodyPr wrap="square" lIns="0" rIns="0" tIns="0" bIns="0" anchor="t">
            <a:spAutoFit/>
          </a:bodyPr>
          <a:lstStyle/>
          <a:p>
            <a:pPr algn="l">
              <a:spcAft>
                <a:spcPts val="300"/>
              </a:spcAft>
            </a:pPr>
            <a:r>
              <a:rPr sz="1700" b="0">
                <a:solidFill>
                  <a:srgbClr val="A8B4CC"/>
                </a:solidFill>
                <a:latin typeface="Aptos"/>
              </a:rPr>
              <a:t>A guided walkthrough of the problem, features, workflow, and technology behind my AI interview practice platform.</a:t>
            </a:r>
          </a:p>
        </p:txBody>
      </p:sp>
      <p:sp>
        <p:nvSpPr>
          <p:cNvPr id="12" name="Rounded Rectangle 11"/>
          <p:cNvSpPr/>
          <p:nvPr/>
        </p:nvSpPr>
        <p:spPr>
          <a:xfrm>
            <a:off x="777240" y="4572000"/>
            <a:ext cx="1600200" cy="347472"/>
          </a:xfrm>
          <a:prstGeom prst="roundRect">
            <a:avLst>
              <a:gd name="adj" fmla="val 14000"/>
            </a:avLst>
          </a:prstGeom>
          <a:solidFill>
            <a:srgbClr val="17233A"/>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3" y="4608576"/>
            <a:ext cx="1490472" cy="228600"/>
          </a:xfrm>
          <a:prstGeom prst="rect">
            <a:avLst/>
          </a:prstGeom>
          <a:noFill/>
        </p:spPr>
        <p:txBody>
          <a:bodyPr wrap="square" lIns="0" rIns="0" tIns="0" bIns="0" anchor="t">
            <a:spAutoFit/>
          </a:bodyPr>
          <a:lstStyle/>
          <a:p>
            <a:pPr algn="ctr">
              <a:spcAft>
                <a:spcPts val="300"/>
              </a:spcAft>
            </a:pPr>
            <a:r>
              <a:rPr sz="1000" b="1">
                <a:solidFill>
                  <a:srgbClr val="55D6E8"/>
                </a:solidFill>
                <a:latin typeface="Aptos"/>
              </a:rPr>
              <a:t>WEB APPLICATION</a:t>
            </a:r>
          </a:p>
        </p:txBody>
      </p:sp>
      <p:sp>
        <p:nvSpPr>
          <p:cNvPr id="14" name="Rounded Rectangle 13"/>
          <p:cNvSpPr/>
          <p:nvPr/>
        </p:nvSpPr>
        <p:spPr>
          <a:xfrm>
            <a:off x="2514600" y="4572000"/>
            <a:ext cx="1417320" cy="347472"/>
          </a:xfrm>
          <a:prstGeom prst="roundRect">
            <a:avLst>
              <a:gd name="adj" fmla="val 14000"/>
            </a:avLst>
          </a:prstGeom>
          <a:solidFill>
            <a:srgbClr val="17233A"/>
          </a:solidFill>
          <a:ln w="12700">
            <a:solidFill>
              <a:srgbClr val="9A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4608576"/>
            <a:ext cx="1307592" cy="228600"/>
          </a:xfrm>
          <a:prstGeom prst="rect">
            <a:avLst/>
          </a:prstGeom>
          <a:noFill/>
        </p:spPr>
        <p:txBody>
          <a:bodyPr wrap="square" lIns="0" rIns="0" tIns="0" bIns="0" anchor="t">
            <a:spAutoFit/>
          </a:bodyPr>
          <a:lstStyle/>
          <a:p>
            <a:pPr algn="ctr">
              <a:spcAft>
                <a:spcPts val="300"/>
              </a:spcAft>
            </a:pPr>
            <a:r>
              <a:rPr sz="1000" b="1">
                <a:solidFill>
                  <a:srgbClr val="9A83FF"/>
                </a:solidFill>
                <a:latin typeface="Aptos"/>
              </a:rPr>
              <a:t>VOICE + CODE</a:t>
            </a:r>
          </a:p>
        </p:txBody>
      </p:sp>
      <p:sp>
        <p:nvSpPr>
          <p:cNvPr id="16" name="TextBox 15"/>
          <p:cNvSpPr txBox="1"/>
          <p:nvPr/>
        </p:nvSpPr>
        <p:spPr>
          <a:xfrm>
            <a:off x="777240" y="6016752"/>
            <a:ext cx="6858000" cy="256032"/>
          </a:xfrm>
          <a:prstGeom prst="rect">
            <a:avLst/>
          </a:prstGeom>
          <a:noFill/>
        </p:spPr>
        <p:txBody>
          <a:bodyPr wrap="square" lIns="0" rIns="0" tIns="0" bIns="0" anchor="t">
            <a:spAutoFit/>
          </a:bodyPr>
          <a:lstStyle/>
          <a:p>
            <a:pPr algn="l">
              <a:spcAft>
                <a:spcPts val="300"/>
              </a:spcAft>
            </a:pPr>
            <a:r>
              <a:rPr sz="1100" b="0">
                <a:solidFill>
                  <a:srgbClr val="74819B"/>
                </a:solidFill>
                <a:latin typeface="Aptos"/>
              </a:rPr>
              <a:t>Presented by: [Your Name]     |     College: [College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PRESENTATION ROADMAP</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A simple story: from preparation to feedback</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02</a:t>
            </a:r>
          </a:p>
        </p:txBody>
      </p:sp>
      <p:sp>
        <p:nvSpPr>
          <p:cNvPr id="9" name="Rounded Rectangle 8"/>
          <p:cNvSpPr/>
          <p:nvPr/>
        </p:nvSpPr>
        <p:spPr>
          <a:xfrm>
            <a:off x="685800" y="2103120"/>
            <a:ext cx="2542032" cy="210312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249424"/>
            <a:ext cx="50292" cy="1810511"/>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267712"/>
            <a:ext cx="2176272" cy="201168"/>
          </a:xfrm>
          <a:prstGeom prst="rect">
            <a:avLst/>
          </a:prstGeom>
          <a:noFill/>
        </p:spPr>
        <p:txBody>
          <a:bodyPr wrap="square" lIns="0" rIns="0" tIns="0" bIns="0" anchor="t">
            <a:spAutoFit/>
          </a:bodyPr>
          <a:lstStyle/>
          <a:p>
            <a:pPr algn="l">
              <a:spcAft>
                <a:spcPts val="300"/>
              </a:spcAft>
            </a:pPr>
            <a:r>
              <a:rPr sz="900" b="1">
                <a:solidFill>
                  <a:srgbClr val="55D6E8"/>
                </a:solidFill>
                <a:latin typeface="Aptos"/>
              </a:rPr>
              <a:t>CHAPTER 01</a:t>
            </a:r>
          </a:p>
        </p:txBody>
      </p:sp>
      <p:sp>
        <p:nvSpPr>
          <p:cNvPr id="12" name="TextBox 11"/>
          <p:cNvSpPr txBox="1"/>
          <p:nvPr/>
        </p:nvSpPr>
        <p:spPr>
          <a:xfrm>
            <a:off x="886968" y="2578608"/>
            <a:ext cx="2157984"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The need</a:t>
            </a:r>
          </a:p>
        </p:txBody>
      </p:sp>
      <p:sp>
        <p:nvSpPr>
          <p:cNvPr id="13" name="TextBox 12"/>
          <p:cNvSpPr txBox="1"/>
          <p:nvPr/>
        </p:nvSpPr>
        <p:spPr>
          <a:xfrm>
            <a:off x="886968" y="3008376"/>
            <a:ext cx="2130551" cy="1097279"/>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Interview practice can be hard to repeat and assess.</a:t>
            </a:r>
          </a:p>
        </p:txBody>
      </p:sp>
      <p:cxnSp>
        <p:nvCxnSpPr>
          <p:cNvPr id="14" name="Connector 13"/>
          <p:cNvCxnSpPr/>
          <p:nvPr/>
        </p:nvCxnSpPr>
        <p:spPr>
          <a:xfrm>
            <a:off x="3246120" y="3127248"/>
            <a:ext cx="219456"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02152" y="2103120"/>
            <a:ext cx="2542032" cy="210312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2152" y="2249424"/>
            <a:ext cx="50292" cy="1810511"/>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3320" y="2267712"/>
            <a:ext cx="2176272" cy="201168"/>
          </a:xfrm>
          <a:prstGeom prst="rect">
            <a:avLst/>
          </a:prstGeom>
          <a:noFill/>
        </p:spPr>
        <p:txBody>
          <a:bodyPr wrap="square" lIns="0" rIns="0" tIns="0" bIns="0" anchor="t">
            <a:spAutoFit/>
          </a:bodyPr>
          <a:lstStyle/>
          <a:p>
            <a:pPr algn="l">
              <a:spcAft>
                <a:spcPts val="300"/>
              </a:spcAft>
            </a:pPr>
            <a:r>
              <a:rPr sz="900" b="1">
                <a:solidFill>
                  <a:srgbClr val="9A83FF"/>
                </a:solidFill>
                <a:latin typeface="Aptos"/>
              </a:rPr>
              <a:t>CHAPTER 02</a:t>
            </a:r>
          </a:p>
        </p:txBody>
      </p:sp>
      <p:sp>
        <p:nvSpPr>
          <p:cNvPr id="18" name="TextBox 17"/>
          <p:cNvSpPr txBox="1"/>
          <p:nvPr/>
        </p:nvSpPr>
        <p:spPr>
          <a:xfrm>
            <a:off x="3703320" y="2578608"/>
            <a:ext cx="2157984"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The solution</a:t>
            </a:r>
          </a:p>
        </p:txBody>
      </p:sp>
      <p:sp>
        <p:nvSpPr>
          <p:cNvPr id="19" name="TextBox 18"/>
          <p:cNvSpPr txBox="1"/>
          <p:nvPr/>
        </p:nvSpPr>
        <p:spPr>
          <a:xfrm>
            <a:off x="3703320" y="3008376"/>
            <a:ext cx="2130551" cy="1097279"/>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One workspace for practice, voice, code, and review.</a:t>
            </a:r>
          </a:p>
        </p:txBody>
      </p:sp>
      <p:cxnSp>
        <p:nvCxnSpPr>
          <p:cNvPr id="20" name="Connector 19"/>
          <p:cNvCxnSpPr/>
          <p:nvPr/>
        </p:nvCxnSpPr>
        <p:spPr>
          <a:xfrm>
            <a:off x="6062472" y="3127248"/>
            <a:ext cx="219456"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318504" y="2103120"/>
            <a:ext cx="2542032" cy="210312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18504" y="2249424"/>
            <a:ext cx="50292" cy="1810511"/>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9672" y="2267712"/>
            <a:ext cx="2176272" cy="201168"/>
          </a:xfrm>
          <a:prstGeom prst="rect">
            <a:avLst/>
          </a:prstGeom>
          <a:noFill/>
        </p:spPr>
        <p:txBody>
          <a:bodyPr wrap="square" lIns="0" rIns="0" tIns="0" bIns="0" anchor="t">
            <a:spAutoFit/>
          </a:bodyPr>
          <a:lstStyle/>
          <a:p>
            <a:pPr algn="l">
              <a:spcAft>
                <a:spcPts val="300"/>
              </a:spcAft>
            </a:pPr>
            <a:r>
              <a:rPr sz="900" b="1">
                <a:solidFill>
                  <a:srgbClr val="F28BC7"/>
                </a:solidFill>
                <a:latin typeface="Aptos"/>
              </a:rPr>
              <a:t>CHAPTER 03</a:t>
            </a:r>
          </a:p>
        </p:txBody>
      </p:sp>
      <p:sp>
        <p:nvSpPr>
          <p:cNvPr id="24" name="TextBox 23"/>
          <p:cNvSpPr txBox="1"/>
          <p:nvPr/>
        </p:nvSpPr>
        <p:spPr>
          <a:xfrm>
            <a:off x="6519672" y="2578608"/>
            <a:ext cx="2157984"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The journey</a:t>
            </a:r>
          </a:p>
        </p:txBody>
      </p:sp>
      <p:sp>
        <p:nvSpPr>
          <p:cNvPr id="25" name="TextBox 24"/>
          <p:cNvSpPr txBox="1"/>
          <p:nvPr/>
        </p:nvSpPr>
        <p:spPr>
          <a:xfrm>
            <a:off x="6519672" y="3008376"/>
            <a:ext cx="2130551" cy="1097279"/>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Create a session, answer questions, learn from feedback.</a:t>
            </a:r>
          </a:p>
        </p:txBody>
      </p:sp>
      <p:cxnSp>
        <p:nvCxnSpPr>
          <p:cNvPr id="26" name="Connector 25"/>
          <p:cNvCxnSpPr/>
          <p:nvPr/>
        </p:nvCxnSpPr>
        <p:spPr>
          <a:xfrm>
            <a:off x="8878824" y="3127248"/>
            <a:ext cx="219456"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134856" y="2103120"/>
            <a:ext cx="2542032" cy="210312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34856" y="2249424"/>
            <a:ext cx="50292" cy="1810511"/>
          </a:xfrm>
          <a:prstGeom prst="rect">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36024" y="2267712"/>
            <a:ext cx="2176272" cy="201168"/>
          </a:xfrm>
          <a:prstGeom prst="rect">
            <a:avLst/>
          </a:prstGeom>
          <a:noFill/>
        </p:spPr>
        <p:txBody>
          <a:bodyPr wrap="square" lIns="0" rIns="0" tIns="0" bIns="0" anchor="t">
            <a:spAutoFit/>
          </a:bodyPr>
          <a:lstStyle/>
          <a:p>
            <a:pPr algn="l">
              <a:spcAft>
                <a:spcPts val="300"/>
              </a:spcAft>
            </a:pPr>
            <a:r>
              <a:rPr sz="900" b="1">
                <a:solidFill>
                  <a:srgbClr val="61D9A5"/>
                </a:solidFill>
                <a:latin typeface="Aptos"/>
              </a:rPr>
              <a:t>CHAPTER 04</a:t>
            </a:r>
          </a:p>
        </p:txBody>
      </p:sp>
      <p:sp>
        <p:nvSpPr>
          <p:cNvPr id="30" name="TextBox 29"/>
          <p:cNvSpPr txBox="1"/>
          <p:nvPr/>
        </p:nvSpPr>
        <p:spPr>
          <a:xfrm>
            <a:off x="9336024" y="2578608"/>
            <a:ext cx="2157984"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The build</a:t>
            </a:r>
          </a:p>
        </p:txBody>
      </p:sp>
      <p:sp>
        <p:nvSpPr>
          <p:cNvPr id="31" name="TextBox 30"/>
          <p:cNvSpPr txBox="1"/>
          <p:nvPr/>
        </p:nvSpPr>
        <p:spPr>
          <a:xfrm>
            <a:off x="9336024" y="3008376"/>
            <a:ext cx="2130551" cy="1097279"/>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Frontend, backend, database, and AI services work together.</a:t>
            </a:r>
          </a:p>
        </p:txBody>
      </p:sp>
      <p:sp>
        <p:nvSpPr>
          <p:cNvPr id="32" name="TextBox 31"/>
          <p:cNvSpPr txBox="1"/>
          <p:nvPr/>
        </p:nvSpPr>
        <p:spPr>
          <a:xfrm>
            <a:off x="758952" y="4864608"/>
            <a:ext cx="7955279" cy="329184"/>
          </a:xfrm>
          <a:prstGeom prst="rect">
            <a:avLst/>
          </a:prstGeom>
          <a:noFill/>
        </p:spPr>
        <p:txBody>
          <a:bodyPr wrap="square" lIns="0" rIns="0" tIns="0" bIns="0" anchor="t">
            <a:spAutoFit/>
          </a:bodyPr>
          <a:lstStyle/>
          <a:p>
            <a:pPr algn="l">
              <a:spcAft>
                <a:spcPts val="300"/>
              </a:spcAft>
            </a:pPr>
            <a:r>
              <a:rPr sz="1600" b="0">
                <a:solidFill>
                  <a:srgbClr val="A8B4CC"/>
                </a:solidFill>
                <a:latin typeface="Aptos"/>
              </a:rPr>
              <a:t>The rest of the slides follow this journey in order.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01 / WHY THIS PROJECT</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The problem: interview readiness takes practice</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03</a:t>
            </a:r>
          </a:p>
        </p:txBody>
      </p:sp>
      <p:sp>
        <p:nvSpPr>
          <p:cNvPr id="9" name="Rounded Rectangle 8"/>
          <p:cNvSpPr/>
          <p:nvPr/>
        </p:nvSpPr>
        <p:spPr>
          <a:xfrm>
            <a:off x="731520" y="1920240"/>
            <a:ext cx="3429000" cy="1874519"/>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066544"/>
            <a:ext cx="50292" cy="1581911"/>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157984"/>
            <a:ext cx="304495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Practice is difficult to repeat</a:t>
            </a:r>
          </a:p>
        </p:txBody>
      </p:sp>
      <p:sp>
        <p:nvSpPr>
          <p:cNvPr id="12" name="TextBox 11"/>
          <p:cNvSpPr txBox="1"/>
          <p:nvPr/>
        </p:nvSpPr>
        <p:spPr>
          <a:xfrm>
            <a:off x="932688" y="2587752"/>
            <a:ext cx="3017520" cy="110642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Finding someone available for a realistic mock interview is not always convenient.</a:t>
            </a:r>
          </a:p>
        </p:txBody>
      </p:sp>
      <p:sp>
        <p:nvSpPr>
          <p:cNvPr id="13" name="Rounded Rectangle 12"/>
          <p:cNvSpPr/>
          <p:nvPr/>
        </p:nvSpPr>
        <p:spPr>
          <a:xfrm>
            <a:off x="4370832" y="1920240"/>
            <a:ext cx="3429000" cy="1874519"/>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2066544"/>
            <a:ext cx="50292" cy="1581911"/>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157984"/>
            <a:ext cx="304495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Feedback can be unclear</a:t>
            </a:r>
          </a:p>
        </p:txBody>
      </p:sp>
      <p:sp>
        <p:nvSpPr>
          <p:cNvPr id="16" name="TextBox 15"/>
          <p:cNvSpPr txBox="1"/>
          <p:nvPr/>
        </p:nvSpPr>
        <p:spPr>
          <a:xfrm>
            <a:off x="4572000" y="2587752"/>
            <a:ext cx="3017520" cy="110642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A candidate may finish an answer without knowing what to improve next.</a:t>
            </a:r>
          </a:p>
        </p:txBody>
      </p:sp>
      <p:sp>
        <p:nvSpPr>
          <p:cNvPr id="17" name="Rounded Rectangle 16"/>
          <p:cNvSpPr/>
          <p:nvPr/>
        </p:nvSpPr>
        <p:spPr>
          <a:xfrm>
            <a:off x="8010144" y="1920240"/>
            <a:ext cx="3429000" cy="1874519"/>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10144" y="2066544"/>
            <a:ext cx="50292" cy="1581911"/>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2157984"/>
            <a:ext cx="304495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Answers need different skills</a:t>
            </a:r>
          </a:p>
        </p:txBody>
      </p:sp>
      <p:sp>
        <p:nvSpPr>
          <p:cNvPr id="20" name="TextBox 19"/>
          <p:cNvSpPr txBox="1"/>
          <p:nvPr/>
        </p:nvSpPr>
        <p:spPr>
          <a:xfrm>
            <a:off x="8211312" y="2587752"/>
            <a:ext cx="3017520" cy="110642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Technical interviews may test spoken reasoning as well as coding ability.</a:t>
            </a:r>
          </a:p>
        </p:txBody>
      </p:sp>
      <p:sp>
        <p:nvSpPr>
          <p:cNvPr id="21" name="TextBox 20"/>
          <p:cNvSpPr txBox="1"/>
          <p:nvPr/>
        </p:nvSpPr>
        <p:spPr>
          <a:xfrm>
            <a:off x="777240" y="4343400"/>
            <a:ext cx="1554480" cy="274320"/>
          </a:xfrm>
          <a:prstGeom prst="rect">
            <a:avLst/>
          </a:prstGeom>
          <a:noFill/>
        </p:spPr>
        <p:txBody>
          <a:bodyPr wrap="square" lIns="0" rIns="0" tIns="0" bIns="0" anchor="t">
            <a:spAutoFit/>
          </a:bodyPr>
          <a:lstStyle/>
          <a:p>
            <a:pPr algn="l">
              <a:spcAft>
                <a:spcPts val="300"/>
              </a:spcAft>
            </a:pPr>
            <a:r>
              <a:rPr sz="1200" b="1">
                <a:solidFill>
                  <a:srgbClr val="55D6E8"/>
                </a:solidFill>
                <a:latin typeface="Aptos"/>
              </a:rPr>
              <a:t>Project idea</a:t>
            </a:r>
          </a:p>
        </p:txBody>
      </p:sp>
      <p:sp>
        <p:nvSpPr>
          <p:cNvPr id="22" name="TextBox 21"/>
          <p:cNvSpPr txBox="1"/>
          <p:nvPr/>
        </p:nvSpPr>
        <p:spPr>
          <a:xfrm>
            <a:off x="777240" y="4681728"/>
            <a:ext cx="10149840" cy="658368"/>
          </a:xfrm>
          <a:prstGeom prst="rect">
            <a:avLst/>
          </a:prstGeom>
          <a:noFill/>
        </p:spPr>
        <p:txBody>
          <a:bodyPr wrap="square" lIns="0" rIns="0" tIns="0" bIns="0" anchor="t">
            <a:spAutoFit/>
          </a:bodyPr>
          <a:lstStyle/>
          <a:p>
            <a:pPr algn="l">
              <a:spcAft>
                <a:spcPts val="300"/>
              </a:spcAft>
            </a:pPr>
            <a:r>
              <a:rPr sz="2200" b="1">
                <a:solidFill>
                  <a:srgbClr val="F4F7FF"/>
                </a:solidFill>
                <a:latin typeface="Aptos"/>
              </a:rPr>
              <a:t>Make structured technical interview practice available on demand, then provide useful feedback after each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01 / WHAT IT AIMS TO DO</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Project goal and scope</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04</a:t>
            </a:r>
          </a:p>
        </p:txBody>
      </p:sp>
      <p:sp>
        <p:nvSpPr>
          <p:cNvPr id="9" name="Rounded Rectangle 8"/>
          <p:cNvSpPr/>
          <p:nvPr/>
        </p:nvSpPr>
        <p:spPr>
          <a:xfrm>
            <a:off x="749808" y="1874519"/>
            <a:ext cx="5074920" cy="1261872"/>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020824"/>
            <a:ext cx="50292" cy="969263"/>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112263"/>
            <a:ext cx="469087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Personalize</a:t>
            </a:r>
          </a:p>
        </p:txBody>
      </p:sp>
      <p:sp>
        <p:nvSpPr>
          <p:cNvPr id="12" name="TextBox 11"/>
          <p:cNvSpPr txBox="1"/>
          <p:nvPr/>
        </p:nvSpPr>
        <p:spPr>
          <a:xfrm>
            <a:off x="950976" y="2542031"/>
            <a:ext cx="4663440" cy="493776"/>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Choose role, experience level, format, and question count.</a:t>
            </a:r>
          </a:p>
        </p:txBody>
      </p:sp>
      <p:sp>
        <p:nvSpPr>
          <p:cNvPr id="13" name="Rounded Rectangle 12"/>
          <p:cNvSpPr/>
          <p:nvPr/>
        </p:nvSpPr>
        <p:spPr>
          <a:xfrm>
            <a:off x="6309360" y="1874519"/>
            <a:ext cx="5074920" cy="1261872"/>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2020824"/>
            <a:ext cx="50292" cy="969263"/>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2112263"/>
            <a:ext cx="469087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Practice</a:t>
            </a:r>
          </a:p>
        </p:txBody>
      </p:sp>
      <p:sp>
        <p:nvSpPr>
          <p:cNvPr id="16" name="TextBox 15"/>
          <p:cNvSpPr txBox="1"/>
          <p:nvPr/>
        </p:nvSpPr>
        <p:spPr>
          <a:xfrm>
            <a:off x="6510528" y="2542031"/>
            <a:ext cx="4663440" cy="493776"/>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Answer with recorded speech or code in an editor.</a:t>
            </a:r>
          </a:p>
        </p:txBody>
      </p:sp>
      <p:sp>
        <p:nvSpPr>
          <p:cNvPr id="17" name="Rounded Rectangle 16"/>
          <p:cNvSpPr/>
          <p:nvPr/>
        </p:nvSpPr>
        <p:spPr>
          <a:xfrm>
            <a:off x="749808" y="3447287"/>
            <a:ext cx="5074920" cy="1261872"/>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 y="3593591"/>
            <a:ext cx="50292" cy="969263"/>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3685031"/>
            <a:ext cx="469087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Evaluate</a:t>
            </a:r>
          </a:p>
        </p:txBody>
      </p:sp>
      <p:sp>
        <p:nvSpPr>
          <p:cNvPr id="20" name="TextBox 19"/>
          <p:cNvSpPr txBox="1"/>
          <p:nvPr/>
        </p:nvSpPr>
        <p:spPr>
          <a:xfrm>
            <a:off x="950976" y="4114799"/>
            <a:ext cx="4663440" cy="493776"/>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Receive scores, feedback, and ideal-answer guidance.</a:t>
            </a:r>
          </a:p>
        </p:txBody>
      </p:sp>
      <p:sp>
        <p:nvSpPr>
          <p:cNvPr id="21" name="Rounded Rectangle 20"/>
          <p:cNvSpPr/>
          <p:nvPr/>
        </p:nvSpPr>
        <p:spPr>
          <a:xfrm>
            <a:off x="6309360" y="3447287"/>
            <a:ext cx="5074920" cy="1261872"/>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0" y="3593591"/>
            <a:ext cx="50292" cy="969263"/>
          </a:xfrm>
          <a:prstGeom prst="rect">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3685031"/>
            <a:ext cx="469087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Improve</a:t>
            </a:r>
          </a:p>
        </p:txBody>
      </p:sp>
      <p:sp>
        <p:nvSpPr>
          <p:cNvPr id="24" name="TextBox 23"/>
          <p:cNvSpPr txBox="1"/>
          <p:nvPr/>
        </p:nvSpPr>
        <p:spPr>
          <a:xfrm>
            <a:off x="6510528" y="4114799"/>
            <a:ext cx="4663440" cy="493776"/>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Review session results and learn what to practice next.</a:t>
            </a:r>
          </a:p>
        </p:txBody>
      </p:sp>
      <p:sp>
        <p:nvSpPr>
          <p:cNvPr id="25" name="TextBox 24"/>
          <p:cNvSpPr txBox="1"/>
          <p:nvPr/>
        </p:nvSpPr>
        <p:spPr>
          <a:xfrm>
            <a:off x="777240" y="5349240"/>
            <a:ext cx="9601200" cy="457200"/>
          </a:xfrm>
          <a:prstGeom prst="rect">
            <a:avLst/>
          </a:prstGeom>
          <a:noFill/>
        </p:spPr>
        <p:txBody>
          <a:bodyPr wrap="square" lIns="0" rIns="0" tIns="0" bIns="0" anchor="t">
            <a:spAutoFit/>
          </a:bodyPr>
          <a:lstStyle/>
          <a:p>
            <a:pPr algn="l">
              <a:spcAft>
                <a:spcPts val="300"/>
              </a:spcAft>
            </a:pPr>
            <a:r>
              <a:rPr sz="2100" b="1">
                <a:solidFill>
                  <a:srgbClr val="55D6E8"/>
                </a:solidFill>
                <a:latin typeface="Aptos"/>
              </a:rPr>
              <a:t>Core idea: practice → feedback → improvement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02 / HOW IT IS BUILT</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System architecture: four parts working together</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05</a:t>
            </a:r>
          </a:p>
        </p:txBody>
      </p:sp>
      <p:sp>
        <p:nvSpPr>
          <p:cNvPr id="9" name="Rounded Rectangle 8"/>
          <p:cNvSpPr/>
          <p:nvPr/>
        </p:nvSpPr>
        <p:spPr>
          <a:xfrm>
            <a:off x="594360" y="2148840"/>
            <a:ext cx="2331720" cy="2148840"/>
          </a:xfrm>
          <a:prstGeom prst="roundRect">
            <a:avLst>
              <a:gd name="adj" fmla="val 14000"/>
            </a:avLst>
          </a:prstGeom>
          <a:solidFill>
            <a:srgbClr val="111A2E"/>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441448"/>
            <a:ext cx="1874519" cy="292608"/>
          </a:xfrm>
          <a:prstGeom prst="rect">
            <a:avLst/>
          </a:prstGeom>
          <a:noFill/>
        </p:spPr>
        <p:txBody>
          <a:bodyPr wrap="square" lIns="0" rIns="0" tIns="0" bIns="0" anchor="t">
            <a:spAutoFit/>
          </a:bodyPr>
          <a:lstStyle/>
          <a:p>
            <a:pPr algn="l">
              <a:spcAft>
                <a:spcPts val="300"/>
              </a:spcAft>
            </a:pPr>
            <a:r>
              <a:rPr sz="1200" b="1">
                <a:solidFill>
                  <a:srgbClr val="55D6E8"/>
                </a:solidFill>
                <a:latin typeface="Aptos"/>
              </a:rPr>
              <a:t>01  FRONTEND</a:t>
            </a:r>
          </a:p>
        </p:txBody>
      </p:sp>
      <p:sp>
        <p:nvSpPr>
          <p:cNvPr id="11" name="TextBox 10"/>
          <p:cNvSpPr txBox="1"/>
          <p:nvPr/>
        </p:nvSpPr>
        <p:spPr>
          <a:xfrm>
            <a:off x="822960" y="2880360"/>
            <a:ext cx="1828800" cy="1005840"/>
          </a:xfrm>
          <a:prstGeom prst="rect">
            <a:avLst/>
          </a:prstGeom>
          <a:noFill/>
        </p:spPr>
        <p:txBody>
          <a:bodyPr wrap="square" lIns="0" rIns="0" tIns="0" bIns="0" anchor="t">
            <a:spAutoFit/>
          </a:bodyPr>
          <a:lstStyle/>
          <a:p>
            <a:pPr algn="l">
              <a:spcAft>
                <a:spcPts val="300"/>
              </a:spcAft>
            </a:pPr>
            <a:r>
              <a:rPr sz="1500" b="1">
                <a:solidFill>
                  <a:srgbClr val="F4F7FF"/>
                </a:solidFill>
                <a:latin typeface="Aptos"/>
              </a:rPr>
              <a:t>React + Vite</a:t>
            </a:r>
          </a:p>
          <a:p>
            <a:pPr algn="l">
              <a:spcAft>
                <a:spcPts val="300"/>
              </a:spcAft>
            </a:pPr>
            <a:r>
              <a:rPr sz="1500" b="1">
                <a:solidFill>
                  <a:srgbClr val="F4F7FF"/>
                </a:solidFill>
                <a:latin typeface="Aptos"/>
              </a:rPr>
              <a:t>Redux state</a:t>
            </a:r>
          </a:p>
          <a:p>
            <a:pPr algn="l">
              <a:spcAft>
                <a:spcPts val="300"/>
              </a:spcAft>
            </a:pPr>
            <a:r>
              <a:rPr sz="1500" b="1">
                <a:solidFill>
                  <a:srgbClr val="F4F7FF"/>
                </a:solidFill>
                <a:latin typeface="Aptos"/>
              </a:rPr>
              <a:t>Browser audio + code UI</a:t>
            </a:r>
          </a:p>
        </p:txBody>
      </p:sp>
      <p:sp>
        <p:nvSpPr>
          <p:cNvPr id="12" name="Rounded Rectangle 11"/>
          <p:cNvSpPr/>
          <p:nvPr/>
        </p:nvSpPr>
        <p:spPr>
          <a:xfrm>
            <a:off x="3410712" y="2148840"/>
            <a:ext cx="2331720" cy="2148840"/>
          </a:xfrm>
          <a:prstGeom prst="roundRect">
            <a:avLst>
              <a:gd name="adj" fmla="val 14000"/>
            </a:avLst>
          </a:prstGeom>
          <a:solidFill>
            <a:srgbClr val="111A2E"/>
          </a:solidFill>
          <a:ln w="12700">
            <a:solidFill>
              <a:srgbClr val="9A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2441448"/>
            <a:ext cx="1874519" cy="292608"/>
          </a:xfrm>
          <a:prstGeom prst="rect">
            <a:avLst/>
          </a:prstGeom>
          <a:noFill/>
        </p:spPr>
        <p:txBody>
          <a:bodyPr wrap="square" lIns="0" rIns="0" tIns="0" bIns="0" anchor="t">
            <a:spAutoFit/>
          </a:bodyPr>
          <a:lstStyle/>
          <a:p>
            <a:pPr algn="l">
              <a:spcAft>
                <a:spcPts val="300"/>
              </a:spcAft>
            </a:pPr>
            <a:r>
              <a:rPr sz="1200" b="1">
                <a:solidFill>
                  <a:srgbClr val="9A83FF"/>
                </a:solidFill>
                <a:latin typeface="Aptos"/>
              </a:rPr>
              <a:t>02  BACKEND API</a:t>
            </a:r>
          </a:p>
        </p:txBody>
      </p:sp>
      <p:sp>
        <p:nvSpPr>
          <p:cNvPr id="14" name="TextBox 13"/>
          <p:cNvSpPr txBox="1"/>
          <p:nvPr/>
        </p:nvSpPr>
        <p:spPr>
          <a:xfrm>
            <a:off x="3639312" y="2880360"/>
            <a:ext cx="1828800" cy="1005840"/>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Node.js + Express</a:t>
            </a:r>
          </a:p>
          <a:p>
            <a:pPr algn="l">
              <a:spcAft>
                <a:spcPts val="300"/>
              </a:spcAft>
            </a:pPr>
            <a:r>
              <a:rPr sz="1400" b="1">
                <a:solidFill>
                  <a:srgbClr val="F4F7FF"/>
                </a:solidFill>
                <a:latin typeface="Aptos"/>
              </a:rPr>
              <a:t>Authentication</a:t>
            </a:r>
          </a:p>
          <a:p>
            <a:pPr algn="l">
              <a:spcAft>
                <a:spcPts val="300"/>
              </a:spcAft>
            </a:pPr>
            <a:r>
              <a:rPr sz="1400" b="1">
                <a:solidFill>
                  <a:srgbClr val="F4F7FF"/>
                </a:solidFill>
                <a:latin typeface="Aptos"/>
              </a:rPr>
              <a:t>Session and answer routes</a:t>
            </a:r>
          </a:p>
        </p:txBody>
      </p:sp>
      <p:sp>
        <p:nvSpPr>
          <p:cNvPr id="15" name="Rounded Rectangle 14"/>
          <p:cNvSpPr/>
          <p:nvPr/>
        </p:nvSpPr>
        <p:spPr>
          <a:xfrm>
            <a:off x="6236208" y="2148840"/>
            <a:ext cx="2331720" cy="2148840"/>
          </a:xfrm>
          <a:prstGeom prst="roundRect">
            <a:avLst>
              <a:gd name="adj" fmla="val 14000"/>
            </a:avLst>
          </a:prstGeom>
          <a:solidFill>
            <a:srgbClr val="111A2E"/>
          </a:solidFill>
          <a:ln w="12700">
            <a:solidFill>
              <a:srgbClr val="F28B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2441448"/>
            <a:ext cx="1874519" cy="292608"/>
          </a:xfrm>
          <a:prstGeom prst="rect">
            <a:avLst/>
          </a:prstGeom>
          <a:noFill/>
        </p:spPr>
        <p:txBody>
          <a:bodyPr wrap="square" lIns="0" rIns="0" tIns="0" bIns="0" anchor="t">
            <a:spAutoFit/>
          </a:bodyPr>
          <a:lstStyle/>
          <a:p>
            <a:pPr algn="l">
              <a:spcAft>
                <a:spcPts val="300"/>
              </a:spcAft>
            </a:pPr>
            <a:r>
              <a:rPr sz="1200" b="1">
                <a:solidFill>
                  <a:srgbClr val="F28BC7"/>
                </a:solidFill>
                <a:latin typeface="Aptos"/>
              </a:rPr>
              <a:t>03  DATA</a:t>
            </a:r>
          </a:p>
        </p:txBody>
      </p:sp>
      <p:sp>
        <p:nvSpPr>
          <p:cNvPr id="17" name="TextBox 16"/>
          <p:cNvSpPr txBox="1"/>
          <p:nvPr/>
        </p:nvSpPr>
        <p:spPr>
          <a:xfrm>
            <a:off x="6464808" y="2880360"/>
            <a:ext cx="1828800" cy="1005840"/>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MongoDB</a:t>
            </a:r>
          </a:p>
          <a:p>
            <a:pPr algn="l">
              <a:spcAft>
                <a:spcPts val="300"/>
              </a:spcAft>
            </a:pPr>
            <a:r>
              <a:rPr sz="1400" b="1">
                <a:solidFill>
                  <a:srgbClr val="F4F7FF"/>
                </a:solidFill>
                <a:latin typeface="Aptos"/>
              </a:rPr>
              <a:t>User profiles</a:t>
            </a:r>
          </a:p>
          <a:p>
            <a:pPr algn="l">
              <a:spcAft>
                <a:spcPts val="300"/>
              </a:spcAft>
            </a:pPr>
            <a:r>
              <a:rPr sz="1400" b="1">
                <a:solidFill>
                  <a:srgbClr val="F4F7FF"/>
                </a:solidFill>
                <a:latin typeface="Aptos"/>
              </a:rPr>
              <a:t>Interview sessions + answers</a:t>
            </a:r>
          </a:p>
        </p:txBody>
      </p:sp>
      <p:sp>
        <p:nvSpPr>
          <p:cNvPr id="18" name="Rounded Rectangle 17"/>
          <p:cNvSpPr/>
          <p:nvPr/>
        </p:nvSpPr>
        <p:spPr>
          <a:xfrm>
            <a:off x="9052560" y="2148840"/>
            <a:ext cx="2514600" cy="2148840"/>
          </a:xfrm>
          <a:prstGeom prst="roundRect">
            <a:avLst>
              <a:gd name="adj" fmla="val 14000"/>
            </a:avLst>
          </a:prstGeom>
          <a:solidFill>
            <a:srgbClr val="111A2E"/>
          </a:solidFill>
          <a:ln w="12700">
            <a:solidFill>
              <a:srgbClr val="61D9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2441448"/>
            <a:ext cx="1965960" cy="292608"/>
          </a:xfrm>
          <a:prstGeom prst="rect">
            <a:avLst/>
          </a:prstGeom>
          <a:noFill/>
        </p:spPr>
        <p:txBody>
          <a:bodyPr wrap="square" lIns="0" rIns="0" tIns="0" bIns="0" anchor="t">
            <a:spAutoFit/>
          </a:bodyPr>
          <a:lstStyle/>
          <a:p>
            <a:pPr algn="l">
              <a:spcAft>
                <a:spcPts val="300"/>
              </a:spcAft>
            </a:pPr>
            <a:r>
              <a:rPr sz="1200" b="1">
                <a:solidFill>
                  <a:srgbClr val="61D9A5"/>
                </a:solidFill>
                <a:latin typeface="Aptos"/>
              </a:rPr>
              <a:t>04  AI SERVICE</a:t>
            </a:r>
          </a:p>
        </p:txBody>
      </p:sp>
      <p:sp>
        <p:nvSpPr>
          <p:cNvPr id="20" name="TextBox 19"/>
          <p:cNvSpPr txBox="1"/>
          <p:nvPr/>
        </p:nvSpPr>
        <p:spPr>
          <a:xfrm>
            <a:off x="9281160" y="2880360"/>
            <a:ext cx="2011680" cy="1005840"/>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Python + FastAPI</a:t>
            </a:r>
          </a:p>
          <a:p>
            <a:pPr algn="l">
              <a:spcAft>
                <a:spcPts val="300"/>
              </a:spcAft>
            </a:pPr>
            <a:r>
              <a:rPr sz="1400" b="1">
                <a:solidFill>
                  <a:srgbClr val="F4F7FF"/>
                </a:solidFill>
                <a:latin typeface="Aptos"/>
              </a:rPr>
              <a:t>Gemini generation + evaluation</a:t>
            </a:r>
          </a:p>
          <a:p>
            <a:pPr algn="l">
              <a:spcAft>
                <a:spcPts val="300"/>
              </a:spcAft>
            </a:pPr>
            <a:r>
              <a:rPr sz="1400" b="1">
                <a:solidFill>
                  <a:srgbClr val="F4F7FF"/>
                </a:solidFill>
                <a:latin typeface="Aptos"/>
              </a:rPr>
              <a:t>Audio transcription</a:t>
            </a:r>
          </a:p>
        </p:txBody>
      </p:sp>
      <p:cxnSp>
        <p:nvCxnSpPr>
          <p:cNvPr id="21" name="Connector 20"/>
          <p:cNvCxnSpPr/>
          <p:nvPr/>
        </p:nvCxnSpPr>
        <p:spPr>
          <a:xfrm>
            <a:off x="2944368" y="3218688"/>
            <a:ext cx="402336" cy="0"/>
          </a:xfrm>
          <a:prstGeom prst="line">
            <a:avLst/>
          </a:prstGeom>
          <a:ln w="25400">
            <a:solidFill>
              <a:srgbClr val="55D6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60720" y="3218688"/>
            <a:ext cx="411480" cy="0"/>
          </a:xfrm>
          <a:prstGeom prst="line">
            <a:avLst/>
          </a:prstGeom>
          <a:ln w="25400">
            <a:solidFill>
              <a:srgbClr val="9A83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77072" y="3218688"/>
            <a:ext cx="411480" cy="0"/>
          </a:xfrm>
          <a:prstGeom prst="line">
            <a:avLst/>
          </a:prstGeom>
          <a:ln w="25400">
            <a:solidFill>
              <a:srgbClr val="F28BC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9808" y="4892040"/>
            <a:ext cx="10698480" cy="457200"/>
          </a:xfrm>
          <a:prstGeom prst="rect">
            <a:avLst/>
          </a:prstGeom>
          <a:noFill/>
        </p:spPr>
        <p:txBody>
          <a:bodyPr wrap="square" lIns="0" rIns="0" tIns="0" bIns="0" anchor="t">
            <a:spAutoFit/>
          </a:bodyPr>
          <a:lstStyle/>
          <a:p>
            <a:pPr algn="l">
              <a:spcAft>
                <a:spcPts val="300"/>
              </a:spcAft>
            </a:pPr>
            <a:r>
              <a:rPr sz="1500" b="0">
                <a:solidFill>
                  <a:srgbClr val="A8B4CC"/>
                </a:solidFill>
                <a:latin typeface="Aptos"/>
              </a:rPr>
              <a:t>Requests flow through the backend; results return to the interview screen and review page.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02 / MAIN COMPONENTS</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Technology stack</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06</a:t>
            </a:r>
          </a:p>
        </p:txBody>
      </p:sp>
      <p:sp>
        <p:nvSpPr>
          <p:cNvPr id="9" name="Rounded Rectangle 8"/>
          <p:cNvSpPr/>
          <p:nvPr/>
        </p:nvSpPr>
        <p:spPr>
          <a:xfrm>
            <a:off x="731520" y="1828800"/>
            <a:ext cx="5120640" cy="1481328"/>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975104"/>
            <a:ext cx="50292" cy="1188720"/>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93392"/>
            <a:ext cx="4754879" cy="201168"/>
          </a:xfrm>
          <a:prstGeom prst="rect">
            <a:avLst/>
          </a:prstGeom>
          <a:noFill/>
        </p:spPr>
        <p:txBody>
          <a:bodyPr wrap="square" lIns="0" rIns="0" tIns="0" bIns="0" anchor="t">
            <a:spAutoFit/>
          </a:bodyPr>
          <a:lstStyle/>
          <a:p>
            <a:pPr algn="l">
              <a:spcAft>
                <a:spcPts val="300"/>
              </a:spcAft>
            </a:pPr>
            <a:r>
              <a:rPr sz="900" b="1">
                <a:solidFill>
                  <a:srgbClr val="55D6E8"/>
                </a:solidFill>
                <a:latin typeface="Aptos"/>
              </a:rPr>
              <a:t>BROWSER</a:t>
            </a:r>
          </a:p>
        </p:txBody>
      </p:sp>
      <p:sp>
        <p:nvSpPr>
          <p:cNvPr id="12" name="TextBox 11"/>
          <p:cNvSpPr txBox="1"/>
          <p:nvPr/>
        </p:nvSpPr>
        <p:spPr>
          <a:xfrm>
            <a:off x="932688" y="2304288"/>
            <a:ext cx="473659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Frontend</a:t>
            </a:r>
          </a:p>
        </p:txBody>
      </p:sp>
      <p:sp>
        <p:nvSpPr>
          <p:cNvPr id="13" name="TextBox 12"/>
          <p:cNvSpPr txBox="1"/>
          <p:nvPr/>
        </p:nvSpPr>
        <p:spPr>
          <a:xfrm>
            <a:off x="932688" y="2734056"/>
            <a:ext cx="4709159" cy="475488"/>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React • Vite • React Router • Redux Toolkit</a:t>
            </a:r>
          </a:p>
          <a:p>
            <a:pPr algn="l">
              <a:spcAft>
                <a:spcPts val="300"/>
              </a:spcAft>
            </a:pPr>
            <a:r>
              <a:rPr sz="1200" b="0">
                <a:solidFill>
                  <a:srgbClr val="A8B4CC"/>
                </a:solidFill>
                <a:latin typeface="Aptos"/>
              </a:rPr>
              <a:t>Tailwind CSS • Monaco Editor • Chart.js</a:t>
            </a:r>
          </a:p>
        </p:txBody>
      </p:sp>
      <p:sp>
        <p:nvSpPr>
          <p:cNvPr id="14" name="Rounded Rectangle 13"/>
          <p:cNvSpPr/>
          <p:nvPr/>
        </p:nvSpPr>
        <p:spPr>
          <a:xfrm>
            <a:off x="6263640" y="1828800"/>
            <a:ext cx="5120640" cy="1481328"/>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975104"/>
            <a:ext cx="50292" cy="1188720"/>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7" y="1993392"/>
            <a:ext cx="4754879" cy="201168"/>
          </a:xfrm>
          <a:prstGeom prst="rect">
            <a:avLst/>
          </a:prstGeom>
          <a:noFill/>
        </p:spPr>
        <p:txBody>
          <a:bodyPr wrap="square" lIns="0" rIns="0" tIns="0" bIns="0" anchor="t">
            <a:spAutoFit/>
          </a:bodyPr>
          <a:lstStyle/>
          <a:p>
            <a:pPr algn="l">
              <a:spcAft>
                <a:spcPts val="300"/>
              </a:spcAft>
            </a:pPr>
            <a:r>
              <a:rPr sz="900" b="1">
                <a:solidFill>
                  <a:srgbClr val="9A83FF"/>
                </a:solidFill>
                <a:latin typeface="Aptos"/>
              </a:rPr>
              <a:t>API + SESSIONS</a:t>
            </a:r>
          </a:p>
        </p:txBody>
      </p:sp>
      <p:sp>
        <p:nvSpPr>
          <p:cNvPr id="17" name="TextBox 16"/>
          <p:cNvSpPr txBox="1"/>
          <p:nvPr/>
        </p:nvSpPr>
        <p:spPr>
          <a:xfrm>
            <a:off x="6464807" y="2304288"/>
            <a:ext cx="473659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Application backend</a:t>
            </a:r>
          </a:p>
        </p:txBody>
      </p:sp>
      <p:sp>
        <p:nvSpPr>
          <p:cNvPr id="18" name="TextBox 17"/>
          <p:cNvSpPr txBox="1"/>
          <p:nvPr/>
        </p:nvSpPr>
        <p:spPr>
          <a:xfrm>
            <a:off x="6464807" y="2734056"/>
            <a:ext cx="4709159" cy="475488"/>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Node.js • Express • Mongoose</a:t>
            </a:r>
          </a:p>
          <a:p>
            <a:pPr algn="l">
              <a:spcAft>
                <a:spcPts val="300"/>
              </a:spcAft>
            </a:pPr>
            <a:r>
              <a:rPr sz="1200" b="0">
                <a:solidFill>
                  <a:srgbClr val="A8B4CC"/>
                </a:solidFill>
                <a:latin typeface="Aptos"/>
              </a:rPr>
              <a:t>JWT • Socket.IO • Multer</a:t>
            </a:r>
          </a:p>
        </p:txBody>
      </p:sp>
      <p:sp>
        <p:nvSpPr>
          <p:cNvPr id="19" name="Rounded Rectangle 18"/>
          <p:cNvSpPr/>
          <p:nvPr/>
        </p:nvSpPr>
        <p:spPr>
          <a:xfrm>
            <a:off x="731520" y="3657600"/>
            <a:ext cx="5120640" cy="1481328"/>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3803904"/>
            <a:ext cx="50292" cy="1188720"/>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3822191"/>
            <a:ext cx="4754879" cy="201168"/>
          </a:xfrm>
          <a:prstGeom prst="rect">
            <a:avLst/>
          </a:prstGeom>
          <a:noFill/>
        </p:spPr>
        <p:txBody>
          <a:bodyPr wrap="square" lIns="0" rIns="0" tIns="0" bIns="0" anchor="t">
            <a:spAutoFit/>
          </a:bodyPr>
          <a:lstStyle/>
          <a:p>
            <a:pPr algn="l">
              <a:spcAft>
                <a:spcPts val="300"/>
              </a:spcAft>
            </a:pPr>
            <a:r>
              <a:rPr sz="900" b="1">
                <a:solidFill>
                  <a:srgbClr val="F28BC7"/>
                </a:solidFill>
                <a:latin typeface="Aptos"/>
              </a:rPr>
              <a:t>INTELLIGENCE</a:t>
            </a:r>
          </a:p>
        </p:txBody>
      </p:sp>
      <p:sp>
        <p:nvSpPr>
          <p:cNvPr id="22" name="TextBox 21"/>
          <p:cNvSpPr txBox="1"/>
          <p:nvPr/>
        </p:nvSpPr>
        <p:spPr>
          <a:xfrm>
            <a:off x="932688" y="4133087"/>
            <a:ext cx="473659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AI and audio</a:t>
            </a:r>
          </a:p>
        </p:txBody>
      </p:sp>
      <p:sp>
        <p:nvSpPr>
          <p:cNvPr id="23" name="TextBox 22"/>
          <p:cNvSpPr txBox="1"/>
          <p:nvPr/>
        </p:nvSpPr>
        <p:spPr>
          <a:xfrm>
            <a:off x="932688" y="4562855"/>
            <a:ext cx="4709159" cy="475488"/>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Python • FastAPI • Google Gemini</a:t>
            </a:r>
          </a:p>
          <a:p>
            <a:pPr algn="l">
              <a:spcAft>
                <a:spcPts val="300"/>
              </a:spcAft>
            </a:pPr>
            <a:r>
              <a:rPr sz="1200" b="0">
                <a:solidFill>
                  <a:srgbClr val="A8B4CC"/>
                </a:solidFill>
                <a:latin typeface="Aptos"/>
              </a:rPr>
              <a:t>AssemblyAI • FFmpeg audio conversion</a:t>
            </a:r>
          </a:p>
        </p:txBody>
      </p:sp>
      <p:sp>
        <p:nvSpPr>
          <p:cNvPr id="24" name="Rounded Rectangle 23"/>
          <p:cNvSpPr/>
          <p:nvPr/>
        </p:nvSpPr>
        <p:spPr>
          <a:xfrm>
            <a:off x="6263640" y="3657600"/>
            <a:ext cx="5120640" cy="1481328"/>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3803904"/>
            <a:ext cx="50292" cy="1188720"/>
          </a:xfrm>
          <a:prstGeom prst="rect">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4807" y="3822191"/>
            <a:ext cx="4754879" cy="201168"/>
          </a:xfrm>
          <a:prstGeom prst="rect">
            <a:avLst/>
          </a:prstGeom>
          <a:noFill/>
        </p:spPr>
        <p:txBody>
          <a:bodyPr wrap="square" lIns="0" rIns="0" tIns="0" bIns="0" anchor="t">
            <a:spAutoFit/>
          </a:bodyPr>
          <a:lstStyle/>
          <a:p>
            <a:pPr algn="l">
              <a:spcAft>
                <a:spcPts val="300"/>
              </a:spcAft>
            </a:pPr>
            <a:r>
              <a:rPr sz="900" b="1">
                <a:solidFill>
                  <a:srgbClr val="61D9A5"/>
                </a:solidFill>
                <a:latin typeface="Aptos"/>
              </a:rPr>
              <a:t>STORAGE + DEPLOY</a:t>
            </a:r>
          </a:p>
        </p:txBody>
      </p:sp>
      <p:sp>
        <p:nvSpPr>
          <p:cNvPr id="27" name="TextBox 26"/>
          <p:cNvSpPr txBox="1"/>
          <p:nvPr/>
        </p:nvSpPr>
        <p:spPr>
          <a:xfrm>
            <a:off x="6464807" y="4133087"/>
            <a:ext cx="473659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Data and hosting</a:t>
            </a:r>
          </a:p>
        </p:txBody>
      </p:sp>
      <p:sp>
        <p:nvSpPr>
          <p:cNvPr id="28" name="TextBox 27"/>
          <p:cNvSpPr txBox="1"/>
          <p:nvPr/>
        </p:nvSpPr>
        <p:spPr>
          <a:xfrm>
            <a:off x="6464807" y="4562855"/>
            <a:ext cx="4709159" cy="475488"/>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MongoDB • Vercel frontend</a:t>
            </a:r>
          </a:p>
          <a:p>
            <a:pPr algn="l">
              <a:spcAft>
                <a:spcPts val="300"/>
              </a:spcAft>
            </a:pPr>
            <a:r>
              <a:rPr sz="1200" b="0">
                <a:solidFill>
                  <a:srgbClr val="A8B4CC"/>
                </a:solidFill>
                <a:latin typeface="Aptos"/>
              </a:rPr>
              <a:t>Render backend and AI service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03 / STEP BY STEP</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The complete user journey</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07</a:t>
            </a:r>
          </a:p>
        </p:txBody>
      </p:sp>
      <p:sp>
        <p:nvSpPr>
          <p:cNvPr id="9" name="Oval 8"/>
          <p:cNvSpPr/>
          <p:nvPr/>
        </p:nvSpPr>
        <p:spPr>
          <a:xfrm>
            <a:off x="1152144" y="2240280"/>
            <a:ext cx="676656" cy="676656"/>
          </a:xfrm>
          <a:prstGeom prst="ellipse">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2144" y="2386584"/>
            <a:ext cx="676656" cy="310896"/>
          </a:xfrm>
          <a:prstGeom prst="rect">
            <a:avLst/>
          </a:prstGeom>
          <a:noFill/>
        </p:spPr>
        <p:txBody>
          <a:bodyPr wrap="square" lIns="0" rIns="0" tIns="0" bIns="0" anchor="t">
            <a:spAutoFit/>
          </a:bodyPr>
          <a:lstStyle/>
          <a:p>
            <a:pPr algn="ctr">
              <a:spcAft>
                <a:spcPts val="300"/>
              </a:spcAft>
            </a:pPr>
            <a:r>
              <a:rPr sz="1800" b="1">
                <a:solidFill>
                  <a:srgbClr val="080D1C"/>
                </a:solidFill>
                <a:latin typeface="Aptos"/>
              </a:rPr>
              <a:t>1</a:t>
            </a:r>
          </a:p>
        </p:txBody>
      </p:sp>
      <p:sp>
        <p:nvSpPr>
          <p:cNvPr id="11" name="TextBox 10"/>
          <p:cNvSpPr txBox="1"/>
          <p:nvPr/>
        </p:nvSpPr>
        <p:spPr>
          <a:xfrm>
            <a:off x="658368" y="3090672"/>
            <a:ext cx="1691640" cy="320040"/>
          </a:xfrm>
          <a:prstGeom prst="rect">
            <a:avLst/>
          </a:prstGeom>
          <a:noFill/>
        </p:spPr>
        <p:txBody>
          <a:bodyPr wrap="square" lIns="0" rIns="0" tIns="0" bIns="0" anchor="t">
            <a:spAutoFit/>
          </a:bodyPr>
          <a:lstStyle/>
          <a:p>
            <a:pPr algn="ctr">
              <a:spcAft>
                <a:spcPts val="300"/>
              </a:spcAft>
            </a:pPr>
            <a:r>
              <a:rPr sz="1500" b="1">
                <a:solidFill>
                  <a:srgbClr val="F4F7FF"/>
                </a:solidFill>
                <a:latin typeface="Aptos"/>
              </a:rPr>
              <a:t>Sign in</a:t>
            </a:r>
          </a:p>
        </p:txBody>
      </p:sp>
      <p:sp>
        <p:nvSpPr>
          <p:cNvPr id="12" name="TextBox 11"/>
          <p:cNvSpPr txBox="1"/>
          <p:nvPr/>
        </p:nvSpPr>
        <p:spPr>
          <a:xfrm>
            <a:off x="640080" y="3511296"/>
            <a:ext cx="1737360" cy="777240"/>
          </a:xfrm>
          <a:prstGeom prst="rect">
            <a:avLst/>
          </a:prstGeom>
          <a:noFill/>
        </p:spPr>
        <p:txBody>
          <a:bodyPr wrap="square" lIns="0" rIns="0" tIns="0" bIns="0" anchor="t">
            <a:spAutoFit/>
          </a:bodyPr>
          <a:lstStyle/>
          <a:p>
            <a:pPr algn="ctr">
              <a:spcAft>
                <a:spcPts val="300"/>
              </a:spcAft>
            </a:pPr>
            <a:r>
              <a:rPr sz="1100" b="0">
                <a:solidFill>
                  <a:srgbClr val="A8B4CC"/>
                </a:solidFill>
                <a:latin typeface="Aptos"/>
              </a:rPr>
              <a:t>Create an account or log in</a:t>
            </a:r>
          </a:p>
        </p:txBody>
      </p:sp>
      <p:cxnSp>
        <p:nvCxnSpPr>
          <p:cNvPr id="13" name="Connector 12"/>
          <p:cNvCxnSpPr/>
          <p:nvPr/>
        </p:nvCxnSpPr>
        <p:spPr>
          <a:xfrm>
            <a:off x="1920239" y="2578608"/>
            <a:ext cx="603505"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054096" y="2240280"/>
            <a:ext cx="676656" cy="676656"/>
          </a:xfrm>
          <a:prstGeom prst="ellipse">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4096" y="2386584"/>
            <a:ext cx="676656" cy="310896"/>
          </a:xfrm>
          <a:prstGeom prst="rect">
            <a:avLst/>
          </a:prstGeom>
          <a:noFill/>
        </p:spPr>
        <p:txBody>
          <a:bodyPr wrap="square" lIns="0" rIns="0" tIns="0" bIns="0" anchor="t">
            <a:spAutoFit/>
          </a:bodyPr>
          <a:lstStyle/>
          <a:p>
            <a:pPr algn="ctr">
              <a:spcAft>
                <a:spcPts val="300"/>
              </a:spcAft>
            </a:pPr>
            <a:r>
              <a:rPr sz="1800" b="1">
                <a:solidFill>
                  <a:srgbClr val="080D1C"/>
                </a:solidFill>
                <a:latin typeface="Aptos"/>
              </a:rPr>
              <a:t>2</a:t>
            </a:r>
          </a:p>
        </p:txBody>
      </p:sp>
      <p:sp>
        <p:nvSpPr>
          <p:cNvPr id="16" name="TextBox 15"/>
          <p:cNvSpPr txBox="1"/>
          <p:nvPr/>
        </p:nvSpPr>
        <p:spPr>
          <a:xfrm>
            <a:off x="2560320" y="3090672"/>
            <a:ext cx="1691640" cy="320040"/>
          </a:xfrm>
          <a:prstGeom prst="rect">
            <a:avLst/>
          </a:prstGeom>
          <a:noFill/>
        </p:spPr>
        <p:txBody>
          <a:bodyPr wrap="square" lIns="0" rIns="0" tIns="0" bIns="0" anchor="t">
            <a:spAutoFit/>
          </a:bodyPr>
          <a:lstStyle/>
          <a:p>
            <a:pPr algn="ctr">
              <a:spcAft>
                <a:spcPts val="300"/>
              </a:spcAft>
            </a:pPr>
            <a:r>
              <a:rPr sz="1500" b="1">
                <a:solidFill>
                  <a:srgbClr val="F4F7FF"/>
                </a:solidFill>
                <a:latin typeface="Aptos"/>
              </a:rPr>
              <a:t>Configure</a:t>
            </a:r>
          </a:p>
        </p:txBody>
      </p:sp>
      <p:sp>
        <p:nvSpPr>
          <p:cNvPr id="17" name="TextBox 16"/>
          <p:cNvSpPr txBox="1"/>
          <p:nvPr/>
        </p:nvSpPr>
        <p:spPr>
          <a:xfrm>
            <a:off x="2542032" y="3511296"/>
            <a:ext cx="1737360" cy="777240"/>
          </a:xfrm>
          <a:prstGeom prst="rect">
            <a:avLst/>
          </a:prstGeom>
          <a:noFill/>
        </p:spPr>
        <p:txBody>
          <a:bodyPr wrap="square" lIns="0" rIns="0" tIns="0" bIns="0" anchor="t">
            <a:spAutoFit/>
          </a:bodyPr>
          <a:lstStyle/>
          <a:p>
            <a:pPr algn="ctr">
              <a:spcAft>
                <a:spcPts val="300"/>
              </a:spcAft>
            </a:pPr>
            <a:r>
              <a:rPr sz="1100" b="0">
                <a:solidFill>
                  <a:srgbClr val="A8B4CC"/>
                </a:solidFill>
                <a:latin typeface="Aptos"/>
              </a:rPr>
              <a:t>Choose role, level, format, count</a:t>
            </a:r>
          </a:p>
        </p:txBody>
      </p:sp>
      <p:cxnSp>
        <p:nvCxnSpPr>
          <p:cNvPr id="18" name="Connector 17"/>
          <p:cNvCxnSpPr/>
          <p:nvPr/>
        </p:nvCxnSpPr>
        <p:spPr>
          <a:xfrm>
            <a:off x="3822191" y="2578608"/>
            <a:ext cx="603505"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956048" y="2240280"/>
            <a:ext cx="676656" cy="676656"/>
          </a:xfrm>
          <a:prstGeom prst="ellipse">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56048" y="2386584"/>
            <a:ext cx="676656" cy="310896"/>
          </a:xfrm>
          <a:prstGeom prst="rect">
            <a:avLst/>
          </a:prstGeom>
          <a:noFill/>
        </p:spPr>
        <p:txBody>
          <a:bodyPr wrap="square" lIns="0" rIns="0" tIns="0" bIns="0" anchor="t">
            <a:spAutoFit/>
          </a:bodyPr>
          <a:lstStyle/>
          <a:p>
            <a:pPr algn="ctr">
              <a:spcAft>
                <a:spcPts val="300"/>
              </a:spcAft>
            </a:pPr>
            <a:r>
              <a:rPr sz="1800" b="1">
                <a:solidFill>
                  <a:srgbClr val="080D1C"/>
                </a:solidFill>
                <a:latin typeface="Aptos"/>
              </a:rPr>
              <a:t>3</a:t>
            </a:r>
          </a:p>
        </p:txBody>
      </p:sp>
      <p:sp>
        <p:nvSpPr>
          <p:cNvPr id="21" name="TextBox 20"/>
          <p:cNvSpPr txBox="1"/>
          <p:nvPr/>
        </p:nvSpPr>
        <p:spPr>
          <a:xfrm>
            <a:off x="4462272" y="3090672"/>
            <a:ext cx="1691640" cy="320040"/>
          </a:xfrm>
          <a:prstGeom prst="rect">
            <a:avLst/>
          </a:prstGeom>
          <a:noFill/>
        </p:spPr>
        <p:txBody>
          <a:bodyPr wrap="square" lIns="0" rIns="0" tIns="0" bIns="0" anchor="t">
            <a:spAutoFit/>
          </a:bodyPr>
          <a:lstStyle/>
          <a:p>
            <a:pPr algn="ctr">
              <a:spcAft>
                <a:spcPts val="300"/>
              </a:spcAft>
            </a:pPr>
            <a:r>
              <a:rPr sz="1500" b="1">
                <a:solidFill>
                  <a:srgbClr val="F4F7FF"/>
                </a:solidFill>
                <a:latin typeface="Aptos"/>
              </a:rPr>
              <a:t>Prepare</a:t>
            </a:r>
          </a:p>
        </p:txBody>
      </p:sp>
      <p:sp>
        <p:nvSpPr>
          <p:cNvPr id="22" name="TextBox 21"/>
          <p:cNvSpPr txBox="1"/>
          <p:nvPr/>
        </p:nvSpPr>
        <p:spPr>
          <a:xfrm>
            <a:off x="4443984" y="3511296"/>
            <a:ext cx="1737360" cy="777240"/>
          </a:xfrm>
          <a:prstGeom prst="rect">
            <a:avLst/>
          </a:prstGeom>
          <a:noFill/>
        </p:spPr>
        <p:txBody>
          <a:bodyPr wrap="square" lIns="0" rIns="0" tIns="0" bIns="0" anchor="t">
            <a:spAutoFit/>
          </a:bodyPr>
          <a:lstStyle/>
          <a:p>
            <a:pPr algn="ctr">
              <a:spcAft>
                <a:spcPts val="300"/>
              </a:spcAft>
            </a:pPr>
            <a:r>
              <a:rPr sz="1100" b="0">
                <a:solidFill>
                  <a:srgbClr val="A8B4CC"/>
                </a:solidFill>
                <a:latin typeface="Aptos"/>
              </a:rPr>
              <a:t>AI creates targeted questions</a:t>
            </a:r>
          </a:p>
        </p:txBody>
      </p:sp>
      <p:cxnSp>
        <p:nvCxnSpPr>
          <p:cNvPr id="23" name="Connector 22"/>
          <p:cNvCxnSpPr/>
          <p:nvPr/>
        </p:nvCxnSpPr>
        <p:spPr>
          <a:xfrm>
            <a:off x="5724144" y="2578608"/>
            <a:ext cx="603504"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858000" y="2240280"/>
            <a:ext cx="676656" cy="676656"/>
          </a:xfrm>
          <a:prstGeom prst="ellipse">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2386584"/>
            <a:ext cx="676656" cy="310896"/>
          </a:xfrm>
          <a:prstGeom prst="rect">
            <a:avLst/>
          </a:prstGeom>
          <a:noFill/>
        </p:spPr>
        <p:txBody>
          <a:bodyPr wrap="square" lIns="0" rIns="0" tIns="0" bIns="0" anchor="t">
            <a:spAutoFit/>
          </a:bodyPr>
          <a:lstStyle/>
          <a:p>
            <a:pPr algn="ctr">
              <a:spcAft>
                <a:spcPts val="300"/>
              </a:spcAft>
            </a:pPr>
            <a:r>
              <a:rPr sz="1800" b="1">
                <a:solidFill>
                  <a:srgbClr val="080D1C"/>
                </a:solidFill>
                <a:latin typeface="Aptos"/>
              </a:rPr>
              <a:t>4</a:t>
            </a:r>
          </a:p>
        </p:txBody>
      </p:sp>
      <p:sp>
        <p:nvSpPr>
          <p:cNvPr id="26" name="TextBox 25"/>
          <p:cNvSpPr txBox="1"/>
          <p:nvPr/>
        </p:nvSpPr>
        <p:spPr>
          <a:xfrm>
            <a:off x="6364224" y="3090672"/>
            <a:ext cx="1691640" cy="320040"/>
          </a:xfrm>
          <a:prstGeom prst="rect">
            <a:avLst/>
          </a:prstGeom>
          <a:noFill/>
        </p:spPr>
        <p:txBody>
          <a:bodyPr wrap="square" lIns="0" rIns="0" tIns="0" bIns="0" anchor="t">
            <a:spAutoFit/>
          </a:bodyPr>
          <a:lstStyle/>
          <a:p>
            <a:pPr algn="ctr">
              <a:spcAft>
                <a:spcPts val="300"/>
              </a:spcAft>
            </a:pPr>
            <a:r>
              <a:rPr sz="1500" b="1">
                <a:solidFill>
                  <a:srgbClr val="F4F7FF"/>
                </a:solidFill>
                <a:latin typeface="Aptos"/>
              </a:rPr>
              <a:t>Answer</a:t>
            </a:r>
          </a:p>
        </p:txBody>
      </p:sp>
      <p:sp>
        <p:nvSpPr>
          <p:cNvPr id="27" name="TextBox 26"/>
          <p:cNvSpPr txBox="1"/>
          <p:nvPr/>
        </p:nvSpPr>
        <p:spPr>
          <a:xfrm>
            <a:off x="6345936" y="3511296"/>
            <a:ext cx="1737360" cy="777240"/>
          </a:xfrm>
          <a:prstGeom prst="rect">
            <a:avLst/>
          </a:prstGeom>
          <a:noFill/>
        </p:spPr>
        <p:txBody>
          <a:bodyPr wrap="square" lIns="0" rIns="0" tIns="0" bIns="0" anchor="t">
            <a:spAutoFit/>
          </a:bodyPr>
          <a:lstStyle/>
          <a:p>
            <a:pPr algn="ctr">
              <a:spcAft>
                <a:spcPts val="300"/>
              </a:spcAft>
            </a:pPr>
            <a:r>
              <a:rPr sz="1100" b="0">
                <a:solidFill>
                  <a:srgbClr val="A8B4CC"/>
                </a:solidFill>
                <a:latin typeface="Aptos"/>
              </a:rPr>
              <a:t>Speak or write code</a:t>
            </a:r>
          </a:p>
        </p:txBody>
      </p:sp>
      <p:cxnSp>
        <p:nvCxnSpPr>
          <p:cNvPr id="28" name="Connector 27"/>
          <p:cNvCxnSpPr/>
          <p:nvPr/>
        </p:nvCxnSpPr>
        <p:spPr>
          <a:xfrm>
            <a:off x="7626096" y="2578608"/>
            <a:ext cx="603504"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759952" y="2240280"/>
            <a:ext cx="676656" cy="676656"/>
          </a:xfrm>
          <a:prstGeom prst="ellipse">
            <a:avLst/>
          </a:prstGeom>
          <a:solidFill>
            <a:srgbClr val="F5C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59952" y="2386584"/>
            <a:ext cx="676656" cy="310896"/>
          </a:xfrm>
          <a:prstGeom prst="rect">
            <a:avLst/>
          </a:prstGeom>
          <a:noFill/>
        </p:spPr>
        <p:txBody>
          <a:bodyPr wrap="square" lIns="0" rIns="0" tIns="0" bIns="0" anchor="t">
            <a:spAutoFit/>
          </a:bodyPr>
          <a:lstStyle/>
          <a:p>
            <a:pPr algn="ctr">
              <a:spcAft>
                <a:spcPts val="300"/>
              </a:spcAft>
            </a:pPr>
            <a:r>
              <a:rPr sz="1800" b="1">
                <a:solidFill>
                  <a:srgbClr val="080D1C"/>
                </a:solidFill>
                <a:latin typeface="Aptos"/>
              </a:rPr>
              <a:t>5</a:t>
            </a:r>
          </a:p>
        </p:txBody>
      </p:sp>
      <p:sp>
        <p:nvSpPr>
          <p:cNvPr id="31" name="TextBox 30"/>
          <p:cNvSpPr txBox="1"/>
          <p:nvPr/>
        </p:nvSpPr>
        <p:spPr>
          <a:xfrm>
            <a:off x="8266176" y="3090672"/>
            <a:ext cx="1691640" cy="320040"/>
          </a:xfrm>
          <a:prstGeom prst="rect">
            <a:avLst/>
          </a:prstGeom>
          <a:noFill/>
        </p:spPr>
        <p:txBody>
          <a:bodyPr wrap="square" lIns="0" rIns="0" tIns="0" bIns="0" anchor="t">
            <a:spAutoFit/>
          </a:bodyPr>
          <a:lstStyle/>
          <a:p>
            <a:pPr algn="ctr">
              <a:spcAft>
                <a:spcPts val="300"/>
              </a:spcAft>
            </a:pPr>
            <a:r>
              <a:rPr sz="1500" b="1">
                <a:solidFill>
                  <a:srgbClr val="F4F7FF"/>
                </a:solidFill>
                <a:latin typeface="Aptos"/>
              </a:rPr>
              <a:t>Evaluate</a:t>
            </a:r>
          </a:p>
        </p:txBody>
      </p:sp>
      <p:sp>
        <p:nvSpPr>
          <p:cNvPr id="32" name="TextBox 31"/>
          <p:cNvSpPr txBox="1"/>
          <p:nvPr/>
        </p:nvSpPr>
        <p:spPr>
          <a:xfrm>
            <a:off x="8247888" y="3511296"/>
            <a:ext cx="1737360" cy="777240"/>
          </a:xfrm>
          <a:prstGeom prst="rect">
            <a:avLst/>
          </a:prstGeom>
          <a:noFill/>
        </p:spPr>
        <p:txBody>
          <a:bodyPr wrap="square" lIns="0" rIns="0" tIns="0" bIns="0" anchor="t">
            <a:spAutoFit/>
          </a:bodyPr>
          <a:lstStyle/>
          <a:p>
            <a:pPr algn="ctr">
              <a:spcAft>
                <a:spcPts val="300"/>
              </a:spcAft>
            </a:pPr>
            <a:r>
              <a:rPr sz="1100" b="0">
                <a:solidFill>
                  <a:srgbClr val="A8B4CC"/>
                </a:solidFill>
                <a:latin typeface="Aptos"/>
              </a:rPr>
              <a:t>AI feedback and scores</a:t>
            </a:r>
          </a:p>
        </p:txBody>
      </p:sp>
      <p:cxnSp>
        <p:nvCxnSpPr>
          <p:cNvPr id="33" name="Connector 32"/>
          <p:cNvCxnSpPr/>
          <p:nvPr/>
        </p:nvCxnSpPr>
        <p:spPr>
          <a:xfrm>
            <a:off x="9528048" y="2578608"/>
            <a:ext cx="603504"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0661904" y="2240280"/>
            <a:ext cx="676656" cy="676656"/>
          </a:xfrm>
          <a:prstGeom prst="ellipse">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61904" y="2386584"/>
            <a:ext cx="676656" cy="310896"/>
          </a:xfrm>
          <a:prstGeom prst="rect">
            <a:avLst/>
          </a:prstGeom>
          <a:noFill/>
        </p:spPr>
        <p:txBody>
          <a:bodyPr wrap="square" lIns="0" rIns="0" tIns="0" bIns="0" anchor="t">
            <a:spAutoFit/>
          </a:bodyPr>
          <a:lstStyle/>
          <a:p>
            <a:pPr algn="ctr">
              <a:spcAft>
                <a:spcPts val="300"/>
              </a:spcAft>
            </a:pPr>
            <a:r>
              <a:rPr sz="1800" b="1">
                <a:solidFill>
                  <a:srgbClr val="080D1C"/>
                </a:solidFill>
                <a:latin typeface="Aptos"/>
              </a:rPr>
              <a:t>6</a:t>
            </a:r>
          </a:p>
        </p:txBody>
      </p:sp>
      <p:sp>
        <p:nvSpPr>
          <p:cNvPr id="36" name="TextBox 35"/>
          <p:cNvSpPr txBox="1"/>
          <p:nvPr/>
        </p:nvSpPr>
        <p:spPr>
          <a:xfrm>
            <a:off x="10168128" y="3090672"/>
            <a:ext cx="1691640" cy="320040"/>
          </a:xfrm>
          <a:prstGeom prst="rect">
            <a:avLst/>
          </a:prstGeom>
          <a:noFill/>
        </p:spPr>
        <p:txBody>
          <a:bodyPr wrap="square" lIns="0" rIns="0" tIns="0" bIns="0" anchor="t">
            <a:spAutoFit/>
          </a:bodyPr>
          <a:lstStyle/>
          <a:p>
            <a:pPr algn="ctr">
              <a:spcAft>
                <a:spcPts val="300"/>
              </a:spcAft>
            </a:pPr>
            <a:r>
              <a:rPr sz="1500" b="1">
                <a:solidFill>
                  <a:srgbClr val="F4F7FF"/>
                </a:solidFill>
                <a:latin typeface="Aptos"/>
              </a:rPr>
              <a:t>Review</a:t>
            </a:r>
          </a:p>
        </p:txBody>
      </p:sp>
      <p:sp>
        <p:nvSpPr>
          <p:cNvPr id="37" name="TextBox 36"/>
          <p:cNvSpPr txBox="1"/>
          <p:nvPr/>
        </p:nvSpPr>
        <p:spPr>
          <a:xfrm>
            <a:off x="10149840" y="3511296"/>
            <a:ext cx="1737360" cy="777240"/>
          </a:xfrm>
          <a:prstGeom prst="rect">
            <a:avLst/>
          </a:prstGeom>
          <a:noFill/>
        </p:spPr>
        <p:txBody>
          <a:bodyPr wrap="square" lIns="0" rIns="0" tIns="0" bIns="0" anchor="t">
            <a:spAutoFit/>
          </a:bodyPr>
          <a:lstStyle/>
          <a:p>
            <a:pPr algn="ctr">
              <a:spcAft>
                <a:spcPts val="300"/>
              </a:spcAft>
            </a:pPr>
            <a:r>
              <a:rPr sz="1100" b="0">
                <a:solidFill>
                  <a:srgbClr val="A8B4CC"/>
                </a:solidFill>
                <a:latin typeface="Aptos"/>
              </a:rPr>
              <a:t>Summary, chart, ideal answers</a:t>
            </a:r>
          </a:p>
        </p:txBody>
      </p:sp>
      <p:sp>
        <p:nvSpPr>
          <p:cNvPr id="38" name="TextBox 37"/>
          <p:cNvSpPr txBox="1"/>
          <p:nvPr/>
        </p:nvSpPr>
        <p:spPr>
          <a:xfrm>
            <a:off x="777240" y="4983480"/>
            <a:ext cx="9875520" cy="384048"/>
          </a:xfrm>
          <a:prstGeom prst="rect">
            <a:avLst/>
          </a:prstGeom>
          <a:noFill/>
        </p:spPr>
        <p:txBody>
          <a:bodyPr wrap="square" lIns="0" rIns="0" tIns="0" bIns="0" anchor="t">
            <a:spAutoFit/>
          </a:bodyPr>
          <a:lstStyle/>
          <a:p>
            <a:pPr algn="l">
              <a:spcAft>
                <a:spcPts val="300"/>
              </a:spcAft>
            </a:pPr>
            <a:r>
              <a:rPr sz="1800" b="1">
                <a:solidFill>
                  <a:srgbClr val="55D6E8"/>
                </a:solidFill>
                <a:latin typeface="Aptos"/>
              </a:rPr>
              <a:t>A single session connects setup, answers, evaluation, and learning.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03 / GETTING STARTED</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Step 1: account and profile</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08</a:t>
            </a:r>
          </a:p>
        </p:txBody>
      </p:sp>
      <p:sp>
        <p:nvSpPr>
          <p:cNvPr id="9" name="Rounded Rectangle 8"/>
          <p:cNvSpPr/>
          <p:nvPr/>
        </p:nvSpPr>
        <p:spPr>
          <a:xfrm>
            <a:off x="777240" y="1874519"/>
            <a:ext cx="3291840" cy="233172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020824"/>
            <a:ext cx="50292" cy="2039112"/>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039112"/>
            <a:ext cx="2926080" cy="201168"/>
          </a:xfrm>
          <a:prstGeom prst="rect">
            <a:avLst/>
          </a:prstGeom>
          <a:noFill/>
        </p:spPr>
        <p:txBody>
          <a:bodyPr wrap="square" lIns="0" rIns="0" tIns="0" bIns="0" anchor="t">
            <a:spAutoFit/>
          </a:bodyPr>
          <a:lstStyle/>
          <a:p>
            <a:pPr algn="l">
              <a:spcAft>
                <a:spcPts val="300"/>
              </a:spcAft>
            </a:pPr>
            <a:r>
              <a:rPr sz="900" b="1">
                <a:solidFill>
                  <a:srgbClr val="55D6E8"/>
                </a:solidFill>
                <a:latin typeface="Aptos"/>
              </a:rPr>
              <a:t>REGISTER</a:t>
            </a:r>
          </a:p>
        </p:txBody>
      </p:sp>
      <p:sp>
        <p:nvSpPr>
          <p:cNvPr id="12" name="TextBox 11"/>
          <p:cNvSpPr txBox="1"/>
          <p:nvPr/>
        </p:nvSpPr>
        <p:spPr>
          <a:xfrm>
            <a:off x="978408" y="2350008"/>
            <a:ext cx="290779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Create an account</a:t>
            </a:r>
          </a:p>
        </p:txBody>
      </p:sp>
      <p:sp>
        <p:nvSpPr>
          <p:cNvPr id="13" name="TextBox 12"/>
          <p:cNvSpPr txBox="1"/>
          <p:nvPr/>
        </p:nvSpPr>
        <p:spPr>
          <a:xfrm>
            <a:off x="978408" y="2779776"/>
            <a:ext cx="2880360" cy="1325879"/>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Enter a name, email, and password. The backend creates the user profile.</a:t>
            </a:r>
          </a:p>
        </p:txBody>
      </p:sp>
      <p:sp>
        <p:nvSpPr>
          <p:cNvPr id="14" name="Rounded Rectangle 13"/>
          <p:cNvSpPr/>
          <p:nvPr/>
        </p:nvSpPr>
        <p:spPr>
          <a:xfrm>
            <a:off x="4434840" y="1874519"/>
            <a:ext cx="3291840" cy="233172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2020824"/>
            <a:ext cx="50292" cy="2039112"/>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7" y="2039112"/>
            <a:ext cx="2926080" cy="201168"/>
          </a:xfrm>
          <a:prstGeom prst="rect">
            <a:avLst/>
          </a:prstGeom>
          <a:noFill/>
        </p:spPr>
        <p:txBody>
          <a:bodyPr wrap="square" lIns="0" rIns="0" tIns="0" bIns="0" anchor="t">
            <a:spAutoFit/>
          </a:bodyPr>
          <a:lstStyle/>
          <a:p>
            <a:pPr algn="l">
              <a:spcAft>
                <a:spcPts val="300"/>
              </a:spcAft>
            </a:pPr>
            <a:r>
              <a:rPr sz="900" b="1">
                <a:solidFill>
                  <a:srgbClr val="9A83FF"/>
                </a:solidFill>
                <a:latin typeface="Aptos"/>
              </a:rPr>
              <a:t>LOGIN</a:t>
            </a:r>
          </a:p>
        </p:txBody>
      </p:sp>
      <p:sp>
        <p:nvSpPr>
          <p:cNvPr id="17" name="TextBox 16"/>
          <p:cNvSpPr txBox="1"/>
          <p:nvPr/>
        </p:nvSpPr>
        <p:spPr>
          <a:xfrm>
            <a:off x="4636007" y="2350008"/>
            <a:ext cx="290779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Sign in</a:t>
            </a:r>
          </a:p>
        </p:txBody>
      </p:sp>
      <p:sp>
        <p:nvSpPr>
          <p:cNvPr id="18" name="TextBox 17"/>
          <p:cNvSpPr txBox="1"/>
          <p:nvPr/>
        </p:nvSpPr>
        <p:spPr>
          <a:xfrm>
            <a:off x="4636007" y="2779776"/>
            <a:ext cx="2880360" cy="1325879"/>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Use email and password, or continue with Google authentication.</a:t>
            </a:r>
          </a:p>
        </p:txBody>
      </p:sp>
      <p:sp>
        <p:nvSpPr>
          <p:cNvPr id="19" name="Rounded Rectangle 18"/>
          <p:cNvSpPr/>
          <p:nvPr/>
        </p:nvSpPr>
        <p:spPr>
          <a:xfrm>
            <a:off x="8092440" y="1874519"/>
            <a:ext cx="3291840" cy="233172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92440" y="2020824"/>
            <a:ext cx="50292" cy="2039112"/>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2039112"/>
            <a:ext cx="2926080" cy="201168"/>
          </a:xfrm>
          <a:prstGeom prst="rect">
            <a:avLst/>
          </a:prstGeom>
          <a:noFill/>
        </p:spPr>
        <p:txBody>
          <a:bodyPr wrap="square" lIns="0" rIns="0" tIns="0" bIns="0" anchor="t">
            <a:spAutoFit/>
          </a:bodyPr>
          <a:lstStyle/>
          <a:p>
            <a:pPr algn="l">
              <a:spcAft>
                <a:spcPts val="300"/>
              </a:spcAft>
            </a:pPr>
            <a:r>
              <a:rPr sz="900" b="1">
                <a:solidFill>
                  <a:srgbClr val="F28BC7"/>
                </a:solidFill>
                <a:latin typeface="Aptos"/>
              </a:rPr>
              <a:t>PROFILE</a:t>
            </a:r>
          </a:p>
        </p:txBody>
      </p:sp>
      <p:sp>
        <p:nvSpPr>
          <p:cNvPr id="22" name="TextBox 21"/>
          <p:cNvSpPr txBox="1"/>
          <p:nvPr/>
        </p:nvSpPr>
        <p:spPr>
          <a:xfrm>
            <a:off x="8293608" y="2350008"/>
            <a:ext cx="290779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Set a preference</a:t>
            </a:r>
          </a:p>
        </p:txBody>
      </p:sp>
      <p:sp>
        <p:nvSpPr>
          <p:cNvPr id="23" name="TextBox 22"/>
          <p:cNvSpPr txBox="1"/>
          <p:nvPr/>
        </p:nvSpPr>
        <p:spPr>
          <a:xfrm>
            <a:off x="8293608" y="2779776"/>
            <a:ext cx="2880360" cy="1325879"/>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Update profile details and choose a preferred technical role.</a:t>
            </a:r>
          </a:p>
        </p:txBody>
      </p:sp>
      <p:sp>
        <p:nvSpPr>
          <p:cNvPr id="24" name="TextBox 23"/>
          <p:cNvSpPr txBox="1"/>
          <p:nvPr/>
        </p:nvSpPr>
        <p:spPr>
          <a:xfrm>
            <a:off x="822960" y="4800600"/>
            <a:ext cx="10241280" cy="384048"/>
          </a:xfrm>
          <a:prstGeom prst="rect">
            <a:avLst/>
          </a:prstGeom>
          <a:noFill/>
        </p:spPr>
        <p:txBody>
          <a:bodyPr wrap="square" lIns="0" rIns="0" tIns="0" bIns="0" anchor="t">
            <a:spAutoFit/>
          </a:bodyPr>
          <a:lstStyle/>
          <a:p>
            <a:pPr algn="l">
              <a:spcAft>
                <a:spcPts val="300"/>
              </a:spcAft>
            </a:pPr>
            <a:r>
              <a:rPr sz="1500" b="0">
                <a:solidFill>
                  <a:srgbClr val="A8B4CC"/>
                </a:solidFill>
                <a:latin typeface="Aptos"/>
              </a:rPr>
              <a:t>Protected routes keep interview, profile, and review pages for signed-in users.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03 / SESSION BUILDER</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Step 2: configure an interview</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09</a:t>
            </a:r>
          </a:p>
        </p:txBody>
      </p:sp>
      <p:sp>
        <p:nvSpPr>
          <p:cNvPr id="9" name="Rounded Rectangle 8"/>
          <p:cNvSpPr/>
          <p:nvPr/>
        </p:nvSpPr>
        <p:spPr>
          <a:xfrm>
            <a:off x="777240" y="1874519"/>
            <a:ext cx="5577840" cy="3108960"/>
          </a:xfrm>
          <a:prstGeom prst="roundRect">
            <a:avLst>
              <a:gd name="adj" fmla="val 14000"/>
            </a:avLst>
          </a:prstGeom>
          <a:solidFill>
            <a:srgbClr val="111A2E"/>
          </a:solidFill>
          <a:ln w="12700">
            <a:solidFill>
              <a:srgbClr val="293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139696"/>
            <a:ext cx="4754880" cy="274320"/>
          </a:xfrm>
          <a:prstGeom prst="rect">
            <a:avLst/>
          </a:prstGeom>
          <a:noFill/>
        </p:spPr>
        <p:txBody>
          <a:bodyPr wrap="square" lIns="0" rIns="0" tIns="0" bIns="0" anchor="t">
            <a:spAutoFit/>
          </a:bodyPr>
          <a:lstStyle/>
          <a:p>
            <a:pPr algn="l">
              <a:spcAft>
                <a:spcPts val="300"/>
              </a:spcAft>
            </a:pPr>
            <a:r>
              <a:rPr sz="1100" b="1">
                <a:solidFill>
                  <a:srgbClr val="55D6E8"/>
                </a:solidFill>
                <a:latin typeface="Aptos"/>
              </a:rPr>
              <a:t>SESSION BUILDER</a:t>
            </a:r>
          </a:p>
        </p:txBody>
      </p:sp>
      <p:sp>
        <p:nvSpPr>
          <p:cNvPr id="11" name="TextBox 10"/>
          <p:cNvSpPr txBox="1"/>
          <p:nvPr/>
        </p:nvSpPr>
        <p:spPr>
          <a:xfrm>
            <a:off x="1078992" y="2606040"/>
            <a:ext cx="1051560" cy="201168"/>
          </a:xfrm>
          <a:prstGeom prst="rect">
            <a:avLst/>
          </a:prstGeom>
          <a:noFill/>
        </p:spPr>
        <p:txBody>
          <a:bodyPr wrap="square" lIns="0" rIns="0" tIns="0" bIns="0" anchor="t">
            <a:spAutoFit/>
          </a:bodyPr>
          <a:lstStyle/>
          <a:p>
            <a:pPr algn="l">
              <a:spcAft>
                <a:spcPts val="300"/>
              </a:spcAft>
            </a:pPr>
            <a:r>
              <a:rPr sz="900" b="1">
                <a:solidFill>
                  <a:srgbClr val="74819B"/>
                </a:solidFill>
                <a:latin typeface="Aptos"/>
              </a:rPr>
              <a:t>ROLE</a:t>
            </a:r>
          </a:p>
        </p:txBody>
      </p:sp>
      <p:sp>
        <p:nvSpPr>
          <p:cNvPr id="12" name="Rounded Rectangle 11"/>
          <p:cNvSpPr/>
          <p:nvPr/>
        </p:nvSpPr>
        <p:spPr>
          <a:xfrm>
            <a:off x="2286000" y="2569464"/>
            <a:ext cx="3611880" cy="329184"/>
          </a:xfrm>
          <a:prstGeom prst="roundRect">
            <a:avLst>
              <a:gd name="adj" fmla="val 14000"/>
            </a:avLst>
          </a:prstGeom>
          <a:solidFill>
            <a:srgbClr val="0B1324"/>
          </a:solidFill>
          <a:ln w="12700">
            <a:solidFill>
              <a:srgbClr val="2833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50592" y="2624328"/>
            <a:ext cx="3200400" cy="210312"/>
          </a:xfrm>
          <a:prstGeom prst="rect">
            <a:avLst/>
          </a:prstGeom>
          <a:noFill/>
        </p:spPr>
        <p:txBody>
          <a:bodyPr wrap="square" lIns="0" rIns="0" tIns="0" bIns="0" anchor="t">
            <a:spAutoFit/>
          </a:bodyPr>
          <a:lstStyle/>
          <a:p>
            <a:pPr algn="l">
              <a:spcAft>
                <a:spcPts val="300"/>
              </a:spcAft>
            </a:pPr>
            <a:r>
              <a:rPr sz="1100" b="0">
                <a:solidFill>
                  <a:srgbClr val="F4F7FF"/>
                </a:solidFill>
                <a:latin typeface="Aptos"/>
              </a:rPr>
              <a:t>Frontend Developer  ▾</a:t>
            </a:r>
          </a:p>
        </p:txBody>
      </p:sp>
      <p:sp>
        <p:nvSpPr>
          <p:cNvPr id="14" name="TextBox 13"/>
          <p:cNvSpPr txBox="1"/>
          <p:nvPr/>
        </p:nvSpPr>
        <p:spPr>
          <a:xfrm>
            <a:off x="1078992" y="3081528"/>
            <a:ext cx="1051560" cy="201168"/>
          </a:xfrm>
          <a:prstGeom prst="rect">
            <a:avLst/>
          </a:prstGeom>
          <a:noFill/>
        </p:spPr>
        <p:txBody>
          <a:bodyPr wrap="square" lIns="0" rIns="0" tIns="0" bIns="0" anchor="t">
            <a:spAutoFit/>
          </a:bodyPr>
          <a:lstStyle/>
          <a:p>
            <a:pPr algn="l">
              <a:spcAft>
                <a:spcPts val="300"/>
              </a:spcAft>
            </a:pPr>
            <a:r>
              <a:rPr sz="900" b="1">
                <a:solidFill>
                  <a:srgbClr val="74819B"/>
                </a:solidFill>
                <a:latin typeface="Aptos"/>
              </a:rPr>
              <a:t>LEVEL</a:t>
            </a:r>
          </a:p>
        </p:txBody>
      </p:sp>
      <p:sp>
        <p:nvSpPr>
          <p:cNvPr id="15" name="Rounded Rectangle 14"/>
          <p:cNvSpPr/>
          <p:nvPr/>
        </p:nvSpPr>
        <p:spPr>
          <a:xfrm>
            <a:off x="2286000" y="3044952"/>
            <a:ext cx="3611880" cy="329184"/>
          </a:xfrm>
          <a:prstGeom prst="roundRect">
            <a:avLst>
              <a:gd name="adj" fmla="val 14000"/>
            </a:avLst>
          </a:prstGeom>
          <a:solidFill>
            <a:srgbClr val="0B1324"/>
          </a:solidFill>
          <a:ln w="12700">
            <a:solidFill>
              <a:srgbClr val="2833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50592" y="3099816"/>
            <a:ext cx="3200400" cy="210312"/>
          </a:xfrm>
          <a:prstGeom prst="rect">
            <a:avLst/>
          </a:prstGeom>
          <a:noFill/>
        </p:spPr>
        <p:txBody>
          <a:bodyPr wrap="square" lIns="0" rIns="0" tIns="0" bIns="0" anchor="t">
            <a:spAutoFit/>
          </a:bodyPr>
          <a:lstStyle/>
          <a:p>
            <a:pPr algn="l">
              <a:spcAft>
                <a:spcPts val="300"/>
              </a:spcAft>
            </a:pPr>
            <a:r>
              <a:rPr sz="1100" b="0">
                <a:solidFill>
                  <a:srgbClr val="F4F7FF"/>
                </a:solidFill>
                <a:latin typeface="Aptos"/>
              </a:rPr>
              <a:t>Mid-Level  ▾</a:t>
            </a:r>
          </a:p>
        </p:txBody>
      </p:sp>
      <p:sp>
        <p:nvSpPr>
          <p:cNvPr id="17" name="TextBox 16"/>
          <p:cNvSpPr txBox="1"/>
          <p:nvPr/>
        </p:nvSpPr>
        <p:spPr>
          <a:xfrm>
            <a:off x="1078992" y="3557016"/>
            <a:ext cx="1051560" cy="201168"/>
          </a:xfrm>
          <a:prstGeom prst="rect">
            <a:avLst/>
          </a:prstGeom>
          <a:noFill/>
        </p:spPr>
        <p:txBody>
          <a:bodyPr wrap="square" lIns="0" rIns="0" tIns="0" bIns="0" anchor="t">
            <a:spAutoFit/>
          </a:bodyPr>
          <a:lstStyle/>
          <a:p>
            <a:pPr algn="l">
              <a:spcAft>
                <a:spcPts val="300"/>
              </a:spcAft>
            </a:pPr>
            <a:r>
              <a:rPr sz="900" b="1">
                <a:solidFill>
                  <a:srgbClr val="74819B"/>
                </a:solidFill>
                <a:latin typeface="Aptos"/>
              </a:rPr>
              <a:t>TYPE</a:t>
            </a:r>
          </a:p>
        </p:txBody>
      </p:sp>
      <p:sp>
        <p:nvSpPr>
          <p:cNvPr id="18" name="Rounded Rectangle 17"/>
          <p:cNvSpPr/>
          <p:nvPr/>
        </p:nvSpPr>
        <p:spPr>
          <a:xfrm>
            <a:off x="2286000" y="3520440"/>
            <a:ext cx="3611880" cy="329184"/>
          </a:xfrm>
          <a:prstGeom prst="roundRect">
            <a:avLst>
              <a:gd name="adj" fmla="val 14000"/>
            </a:avLst>
          </a:prstGeom>
          <a:solidFill>
            <a:srgbClr val="0B1324"/>
          </a:solidFill>
          <a:ln w="12700">
            <a:solidFill>
              <a:srgbClr val="2833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50592" y="3575304"/>
            <a:ext cx="3200400" cy="210312"/>
          </a:xfrm>
          <a:prstGeom prst="rect">
            <a:avLst/>
          </a:prstGeom>
          <a:noFill/>
        </p:spPr>
        <p:txBody>
          <a:bodyPr wrap="square" lIns="0" rIns="0" tIns="0" bIns="0" anchor="t">
            <a:spAutoFit/>
          </a:bodyPr>
          <a:lstStyle/>
          <a:p>
            <a:pPr algn="l">
              <a:spcAft>
                <a:spcPts val="300"/>
              </a:spcAft>
            </a:pPr>
            <a:r>
              <a:rPr sz="1100" b="0">
                <a:solidFill>
                  <a:srgbClr val="F4F7FF"/>
                </a:solidFill>
                <a:latin typeface="Aptos"/>
              </a:rPr>
              <a:t>Coding Mix  ▾</a:t>
            </a:r>
          </a:p>
        </p:txBody>
      </p:sp>
      <p:sp>
        <p:nvSpPr>
          <p:cNvPr id="20" name="TextBox 19"/>
          <p:cNvSpPr txBox="1"/>
          <p:nvPr/>
        </p:nvSpPr>
        <p:spPr>
          <a:xfrm>
            <a:off x="1078992" y="4032504"/>
            <a:ext cx="1051560" cy="201168"/>
          </a:xfrm>
          <a:prstGeom prst="rect">
            <a:avLst/>
          </a:prstGeom>
          <a:noFill/>
        </p:spPr>
        <p:txBody>
          <a:bodyPr wrap="square" lIns="0" rIns="0" tIns="0" bIns="0" anchor="t">
            <a:spAutoFit/>
          </a:bodyPr>
          <a:lstStyle/>
          <a:p>
            <a:pPr algn="l">
              <a:spcAft>
                <a:spcPts val="300"/>
              </a:spcAft>
            </a:pPr>
            <a:r>
              <a:rPr sz="900" b="1">
                <a:solidFill>
                  <a:srgbClr val="74819B"/>
                </a:solidFill>
                <a:latin typeface="Aptos"/>
              </a:rPr>
              <a:t>LENGTH</a:t>
            </a:r>
          </a:p>
        </p:txBody>
      </p:sp>
      <p:sp>
        <p:nvSpPr>
          <p:cNvPr id="21" name="Rounded Rectangle 20"/>
          <p:cNvSpPr/>
          <p:nvPr/>
        </p:nvSpPr>
        <p:spPr>
          <a:xfrm>
            <a:off x="2286000" y="3995928"/>
            <a:ext cx="3611880" cy="329184"/>
          </a:xfrm>
          <a:prstGeom prst="roundRect">
            <a:avLst>
              <a:gd name="adj" fmla="val 14000"/>
            </a:avLst>
          </a:prstGeom>
          <a:solidFill>
            <a:srgbClr val="0B1324"/>
          </a:solidFill>
          <a:ln w="12700">
            <a:solidFill>
              <a:srgbClr val="2833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50592" y="4050791"/>
            <a:ext cx="3200400" cy="210312"/>
          </a:xfrm>
          <a:prstGeom prst="rect">
            <a:avLst/>
          </a:prstGeom>
          <a:noFill/>
        </p:spPr>
        <p:txBody>
          <a:bodyPr wrap="square" lIns="0" rIns="0" tIns="0" bIns="0" anchor="t">
            <a:spAutoFit/>
          </a:bodyPr>
          <a:lstStyle/>
          <a:p>
            <a:pPr algn="l">
              <a:spcAft>
                <a:spcPts val="300"/>
              </a:spcAft>
            </a:pPr>
            <a:r>
              <a:rPr sz="1100" b="0">
                <a:solidFill>
                  <a:srgbClr val="F4F7FF"/>
                </a:solidFill>
                <a:latin typeface="Aptos"/>
              </a:rPr>
              <a:t>10 questions  ▾</a:t>
            </a:r>
          </a:p>
        </p:txBody>
      </p:sp>
      <p:sp>
        <p:nvSpPr>
          <p:cNvPr id="23" name="Rounded Rectangle 22"/>
          <p:cNvSpPr/>
          <p:nvPr/>
        </p:nvSpPr>
        <p:spPr>
          <a:xfrm>
            <a:off x="2286000" y="4572000"/>
            <a:ext cx="3611880" cy="347472"/>
          </a:xfrm>
          <a:prstGeom prst="roundRect">
            <a:avLst>
              <a:gd name="adj" fmla="val 14000"/>
            </a:avLst>
          </a:prstGeom>
          <a:solidFill>
            <a:srgbClr val="514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23160" y="4636008"/>
            <a:ext cx="3337560" cy="182880"/>
          </a:xfrm>
          <a:prstGeom prst="rect">
            <a:avLst/>
          </a:prstGeom>
          <a:noFill/>
        </p:spPr>
        <p:txBody>
          <a:bodyPr wrap="square" lIns="0" rIns="0" tIns="0" bIns="0" anchor="t">
            <a:spAutoFit/>
          </a:bodyPr>
          <a:lstStyle/>
          <a:p>
            <a:pPr algn="ctr">
              <a:spcAft>
                <a:spcPts val="300"/>
              </a:spcAft>
            </a:pPr>
            <a:r>
              <a:rPr sz="1000" b="1">
                <a:solidFill>
                  <a:srgbClr val="F4F7FF"/>
                </a:solidFill>
                <a:latin typeface="Aptos"/>
              </a:rPr>
              <a:t>START INTERVIEW</a:t>
            </a:r>
          </a:p>
        </p:txBody>
      </p:sp>
      <p:sp>
        <p:nvSpPr>
          <p:cNvPr id="25" name="Rounded Rectangle 24"/>
          <p:cNvSpPr/>
          <p:nvPr/>
        </p:nvSpPr>
        <p:spPr>
          <a:xfrm>
            <a:off x="6812280" y="1874519"/>
            <a:ext cx="4389120" cy="132588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12280" y="2020824"/>
            <a:ext cx="50292" cy="1033271"/>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3448" y="2112263"/>
            <a:ext cx="400507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Role</a:t>
            </a:r>
          </a:p>
        </p:txBody>
      </p:sp>
      <p:sp>
        <p:nvSpPr>
          <p:cNvPr id="28" name="TextBox 27"/>
          <p:cNvSpPr txBox="1"/>
          <p:nvPr/>
        </p:nvSpPr>
        <p:spPr>
          <a:xfrm>
            <a:off x="7013448" y="2542031"/>
            <a:ext cx="3977639" cy="557784"/>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Examples include frontend, backend, data, cloud, and more.</a:t>
            </a:r>
          </a:p>
        </p:txBody>
      </p:sp>
      <p:sp>
        <p:nvSpPr>
          <p:cNvPr id="29" name="Rounded Rectangle 28"/>
          <p:cNvSpPr/>
          <p:nvPr/>
        </p:nvSpPr>
        <p:spPr>
          <a:xfrm>
            <a:off x="6812280" y="3456432"/>
            <a:ext cx="4389120" cy="132588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12280" y="3602736"/>
            <a:ext cx="50292" cy="1033271"/>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3448" y="3694176"/>
            <a:ext cx="400507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Format + length</a:t>
            </a:r>
          </a:p>
        </p:txBody>
      </p:sp>
      <p:sp>
        <p:nvSpPr>
          <p:cNvPr id="32" name="TextBox 31"/>
          <p:cNvSpPr txBox="1"/>
          <p:nvPr/>
        </p:nvSpPr>
        <p:spPr>
          <a:xfrm>
            <a:off x="7013448" y="4123944"/>
            <a:ext cx="3977639" cy="55778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Oral-only or coding mix; select 5, 10, or 15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03 / PERSONALIZED CONTENT</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Step 3: AI prepares questions</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10</a:t>
            </a:r>
          </a:p>
        </p:txBody>
      </p:sp>
      <p:sp>
        <p:nvSpPr>
          <p:cNvPr id="9" name="Rounded Rectangle 8"/>
          <p:cNvSpPr/>
          <p:nvPr/>
        </p:nvSpPr>
        <p:spPr>
          <a:xfrm>
            <a:off x="777240" y="1920240"/>
            <a:ext cx="3108960" cy="196596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066544"/>
            <a:ext cx="50292" cy="1673351"/>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157984"/>
            <a:ext cx="272491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Input</a:t>
            </a:r>
          </a:p>
        </p:txBody>
      </p:sp>
      <p:sp>
        <p:nvSpPr>
          <p:cNvPr id="12" name="TextBox 11"/>
          <p:cNvSpPr txBox="1"/>
          <p:nvPr/>
        </p:nvSpPr>
        <p:spPr>
          <a:xfrm>
            <a:off x="978408" y="2587752"/>
            <a:ext cx="2697479" cy="119786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Role + level</a:t>
            </a:r>
          </a:p>
          <a:p>
            <a:pPr algn="l">
              <a:spcAft>
                <a:spcPts val="300"/>
              </a:spcAft>
            </a:pPr>
            <a:r>
              <a:rPr sz="1200" b="0">
                <a:solidFill>
                  <a:srgbClr val="A8B4CC"/>
                </a:solidFill>
                <a:latin typeface="Aptos"/>
              </a:rPr>
              <a:t>Interview type</a:t>
            </a:r>
          </a:p>
          <a:p>
            <a:pPr algn="l">
              <a:spcAft>
                <a:spcPts val="300"/>
              </a:spcAft>
            </a:pPr>
            <a:r>
              <a:rPr sz="1200" b="0">
                <a:solidFill>
                  <a:srgbClr val="A8B4CC"/>
                </a:solidFill>
                <a:latin typeface="Aptos"/>
              </a:rPr>
              <a:t>Question count</a:t>
            </a:r>
          </a:p>
        </p:txBody>
      </p:sp>
      <p:sp>
        <p:nvSpPr>
          <p:cNvPr id="13" name="Rounded Rectangle 12"/>
          <p:cNvSpPr/>
          <p:nvPr/>
        </p:nvSpPr>
        <p:spPr>
          <a:xfrm>
            <a:off x="4526280" y="1920240"/>
            <a:ext cx="3108960" cy="196596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2066544"/>
            <a:ext cx="50292" cy="1673351"/>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2157984"/>
            <a:ext cx="272491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AI generation</a:t>
            </a:r>
          </a:p>
        </p:txBody>
      </p:sp>
      <p:sp>
        <p:nvSpPr>
          <p:cNvPr id="16" name="TextBox 15"/>
          <p:cNvSpPr txBox="1"/>
          <p:nvPr/>
        </p:nvSpPr>
        <p:spPr>
          <a:xfrm>
            <a:off x="4727448" y="2587752"/>
            <a:ext cx="2697479" cy="119786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FastAPI calls Gemini with instructions tailored to the selected format.</a:t>
            </a:r>
          </a:p>
        </p:txBody>
      </p:sp>
      <p:sp>
        <p:nvSpPr>
          <p:cNvPr id="17" name="Rounded Rectangle 16"/>
          <p:cNvSpPr/>
          <p:nvPr/>
        </p:nvSpPr>
        <p:spPr>
          <a:xfrm>
            <a:off x="8275320" y="1920240"/>
            <a:ext cx="3108960" cy="196596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2066544"/>
            <a:ext cx="50292" cy="1673351"/>
          </a:xfrm>
          <a:prstGeom prst="rect">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76488" y="2157984"/>
            <a:ext cx="272491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Interview queue</a:t>
            </a:r>
          </a:p>
        </p:txBody>
      </p:sp>
      <p:sp>
        <p:nvSpPr>
          <p:cNvPr id="20" name="TextBox 19"/>
          <p:cNvSpPr txBox="1"/>
          <p:nvPr/>
        </p:nvSpPr>
        <p:spPr>
          <a:xfrm>
            <a:off x="8476488" y="2587752"/>
            <a:ext cx="2697479" cy="119786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Generated questions are attached to a session and shown one at a time.</a:t>
            </a:r>
          </a:p>
        </p:txBody>
      </p:sp>
      <p:cxnSp>
        <p:nvCxnSpPr>
          <p:cNvPr id="21" name="Connector 20"/>
          <p:cNvCxnSpPr/>
          <p:nvPr/>
        </p:nvCxnSpPr>
        <p:spPr>
          <a:xfrm>
            <a:off x="3931920" y="2880360"/>
            <a:ext cx="530352" cy="0"/>
          </a:xfrm>
          <a:prstGeom prst="line">
            <a:avLst/>
          </a:prstGeom>
          <a:ln w="25400">
            <a:solidFill>
              <a:srgbClr val="55D6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680960" y="2880360"/>
            <a:ext cx="530352" cy="0"/>
          </a:xfrm>
          <a:prstGeom prst="line">
            <a:avLst/>
          </a:prstGeom>
          <a:ln w="25400">
            <a:solidFill>
              <a:srgbClr val="9A83F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2960" y="4617720"/>
            <a:ext cx="10241280" cy="438912"/>
          </a:xfrm>
          <a:prstGeom prst="rect">
            <a:avLst/>
          </a:prstGeom>
          <a:noFill/>
        </p:spPr>
        <p:txBody>
          <a:bodyPr wrap="square" lIns="0" rIns="0" tIns="0" bIns="0" anchor="t">
            <a:spAutoFit/>
          </a:bodyPr>
          <a:lstStyle/>
          <a:p>
            <a:pPr algn="l">
              <a:spcAft>
                <a:spcPts val="300"/>
              </a:spcAft>
            </a:pPr>
            <a:r>
              <a:rPr sz="1700" b="1">
                <a:solidFill>
                  <a:srgbClr val="F4F7FF"/>
                </a:solidFill>
                <a:latin typeface="Aptos"/>
              </a:rPr>
              <a:t>Coding mix is designed to include both implementation and verbal reasoning.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03 / INTERVIEW SESSION</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Step 4: answer questions in the workspace</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11</a:t>
            </a:r>
          </a:p>
        </p:txBody>
      </p:sp>
      <p:sp>
        <p:nvSpPr>
          <p:cNvPr id="9" name="Rounded Rectangle 8"/>
          <p:cNvSpPr/>
          <p:nvPr/>
        </p:nvSpPr>
        <p:spPr>
          <a:xfrm>
            <a:off x="713232" y="1856231"/>
            <a:ext cx="6675120" cy="3246120"/>
          </a:xfrm>
          <a:prstGeom prst="roundRect">
            <a:avLst>
              <a:gd name="adj" fmla="val 14000"/>
            </a:avLst>
          </a:prstGeom>
          <a:solidFill>
            <a:srgbClr val="111A2E"/>
          </a:solidFill>
          <a:ln w="12700">
            <a:solidFill>
              <a:srgbClr val="293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121408"/>
            <a:ext cx="6126480" cy="246888"/>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FRONTEND DEVELOPER  /  QUESTION 3 OF 10</a:t>
            </a:r>
          </a:p>
        </p:txBody>
      </p:sp>
      <p:sp>
        <p:nvSpPr>
          <p:cNvPr id="11" name="TextBox 10"/>
          <p:cNvSpPr txBox="1"/>
          <p:nvPr/>
        </p:nvSpPr>
        <p:spPr>
          <a:xfrm>
            <a:off x="987552" y="2606040"/>
            <a:ext cx="5806440" cy="731520"/>
          </a:xfrm>
          <a:prstGeom prst="rect">
            <a:avLst/>
          </a:prstGeom>
          <a:noFill/>
        </p:spPr>
        <p:txBody>
          <a:bodyPr wrap="square" lIns="0" rIns="0" tIns="0" bIns="0" anchor="t">
            <a:spAutoFit/>
          </a:bodyPr>
          <a:lstStyle/>
          <a:p>
            <a:pPr algn="l">
              <a:spcAft>
                <a:spcPts val="300"/>
              </a:spcAft>
            </a:pPr>
            <a:r>
              <a:rPr sz="1900" b="1">
                <a:solidFill>
                  <a:srgbClr val="F4F7FF"/>
                </a:solidFill>
                <a:latin typeface="Aptos"/>
              </a:rPr>
              <a:t>How would you improve the performance of a page with a large list?</a:t>
            </a:r>
          </a:p>
        </p:txBody>
      </p:sp>
      <p:sp>
        <p:nvSpPr>
          <p:cNvPr id="12" name="Rounded Rectangle 11"/>
          <p:cNvSpPr/>
          <p:nvPr/>
        </p:nvSpPr>
        <p:spPr>
          <a:xfrm>
            <a:off x="987552" y="3566160"/>
            <a:ext cx="4114800" cy="640080"/>
          </a:xfrm>
          <a:prstGeom prst="roundRect">
            <a:avLst>
              <a:gd name="adj" fmla="val 14000"/>
            </a:avLst>
          </a:prstGeom>
          <a:solidFill>
            <a:srgbClr val="0B1324"/>
          </a:solidFill>
          <a:ln w="12700">
            <a:solidFill>
              <a:srgbClr val="2833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6152" y="3776472"/>
            <a:ext cx="3657600" cy="246888"/>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   Start recording your answer</a:t>
            </a:r>
          </a:p>
        </p:txBody>
      </p:sp>
      <p:sp>
        <p:nvSpPr>
          <p:cNvPr id="14" name="Rounded Rectangle 13"/>
          <p:cNvSpPr/>
          <p:nvPr/>
        </p:nvSpPr>
        <p:spPr>
          <a:xfrm>
            <a:off x="5394960" y="3566160"/>
            <a:ext cx="1600200" cy="640080"/>
          </a:xfrm>
          <a:prstGeom prst="roundRect">
            <a:avLst>
              <a:gd name="adj" fmla="val 14000"/>
            </a:avLst>
          </a:prstGeom>
          <a:solidFill>
            <a:srgbClr val="514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13832" y="3767328"/>
            <a:ext cx="1371600" cy="228600"/>
          </a:xfrm>
          <a:prstGeom prst="rect">
            <a:avLst/>
          </a:prstGeom>
          <a:noFill/>
        </p:spPr>
        <p:txBody>
          <a:bodyPr wrap="square" lIns="0" rIns="0" tIns="0" bIns="0" anchor="t">
            <a:spAutoFit/>
          </a:bodyPr>
          <a:lstStyle/>
          <a:p>
            <a:pPr algn="ctr">
              <a:spcAft>
                <a:spcPts val="300"/>
              </a:spcAft>
            </a:pPr>
            <a:r>
              <a:rPr sz="1100" b="1">
                <a:solidFill>
                  <a:srgbClr val="F4F7FF"/>
                </a:solidFill>
                <a:latin typeface="Aptos"/>
              </a:rPr>
              <a:t>SUBMIT</a:t>
            </a:r>
          </a:p>
        </p:txBody>
      </p:sp>
      <p:sp>
        <p:nvSpPr>
          <p:cNvPr id="16" name="TextBox 15"/>
          <p:cNvSpPr txBox="1"/>
          <p:nvPr/>
        </p:nvSpPr>
        <p:spPr>
          <a:xfrm>
            <a:off x="1005840" y="4572000"/>
            <a:ext cx="4846320" cy="274320"/>
          </a:xfrm>
          <a:prstGeom prst="rect">
            <a:avLst/>
          </a:prstGeom>
          <a:noFill/>
        </p:spPr>
        <p:txBody>
          <a:bodyPr wrap="square" lIns="0" rIns="0" tIns="0" bIns="0" anchor="t">
            <a:spAutoFit/>
          </a:bodyPr>
          <a:lstStyle/>
          <a:p>
            <a:pPr algn="l">
              <a:spcAft>
                <a:spcPts val="300"/>
              </a:spcAft>
            </a:pPr>
            <a:r>
              <a:rPr sz="1300" b="1">
                <a:solidFill>
                  <a:srgbClr val="55D6E8"/>
                </a:solidFill>
                <a:latin typeface="Aptos"/>
              </a:rPr>
              <a:t>●  ●  ●  ○  ○  ○  ○  ○  ○  ○</a:t>
            </a:r>
          </a:p>
        </p:txBody>
      </p:sp>
      <p:sp>
        <p:nvSpPr>
          <p:cNvPr id="17" name="Rounded Rectangle 16"/>
          <p:cNvSpPr/>
          <p:nvPr/>
        </p:nvSpPr>
        <p:spPr>
          <a:xfrm>
            <a:off x="7818120" y="1874519"/>
            <a:ext cx="3474720" cy="123444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18120" y="2020824"/>
            <a:ext cx="50292" cy="941832"/>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19288" y="2112263"/>
            <a:ext cx="309067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Question navigation</a:t>
            </a:r>
          </a:p>
        </p:txBody>
      </p:sp>
      <p:sp>
        <p:nvSpPr>
          <p:cNvPr id="20" name="TextBox 19"/>
          <p:cNvSpPr txBox="1"/>
          <p:nvPr/>
        </p:nvSpPr>
        <p:spPr>
          <a:xfrm>
            <a:off x="8019288" y="2542031"/>
            <a:ext cx="3063239" cy="466344"/>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Jump between questions and see progress.</a:t>
            </a:r>
          </a:p>
        </p:txBody>
      </p:sp>
      <p:sp>
        <p:nvSpPr>
          <p:cNvPr id="21" name="Rounded Rectangle 20"/>
          <p:cNvSpPr/>
          <p:nvPr/>
        </p:nvSpPr>
        <p:spPr>
          <a:xfrm>
            <a:off x="7818120" y="3319272"/>
            <a:ext cx="3474720" cy="123444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818120" y="3465576"/>
            <a:ext cx="50292" cy="941832"/>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19288" y="3557015"/>
            <a:ext cx="309067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Draft persistence</a:t>
            </a:r>
          </a:p>
        </p:txBody>
      </p:sp>
      <p:sp>
        <p:nvSpPr>
          <p:cNvPr id="24" name="TextBox 23"/>
          <p:cNvSpPr txBox="1"/>
          <p:nvPr/>
        </p:nvSpPr>
        <p:spPr>
          <a:xfrm>
            <a:off x="8019288" y="3986783"/>
            <a:ext cx="3063239" cy="466344"/>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Code drafts are saved locally for the active session.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03 / VOICE INTERVIEWS</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Step 5A: voice answer pipeline</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12</a:t>
            </a:r>
          </a:p>
        </p:txBody>
      </p:sp>
      <p:sp>
        <p:nvSpPr>
          <p:cNvPr id="9" name="Rounded Rectangle 8"/>
          <p:cNvSpPr/>
          <p:nvPr/>
        </p:nvSpPr>
        <p:spPr>
          <a:xfrm>
            <a:off x="658368" y="2148840"/>
            <a:ext cx="2029968" cy="178308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295144"/>
            <a:ext cx="50292" cy="1490472"/>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386584"/>
            <a:ext cx="1645920"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Browser</a:t>
            </a:r>
          </a:p>
        </p:txBody>
      </p:sp>
      <p:sp>
        <p:nvSpPr>
          <p:cNvPr id="12" name="TextBox 11"/>
          <p:cNvSpPr txBox="1"/>
          <p:nvPr/>
        </p:nvSpPr>
        <p:spPr>
          <a:xfrm>
            <a:off x="859536" y="2816352"/>
            <a:ext cx="1618488" cy="101498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Record</a:t>
            </a:r>
          </a:p>
          <a:p>
            <a:pPr algn="l">
              <a:spcAft>
                <a:spcPts val="300"/>
              </a:spcAft>
            </a:pPr>
            <a:r>
              <a:rPr sz="1200" b="0">
                <a:solidFill>
                  <a:srgbClr val="A8B4CC"/>
                </a:solidFill>
                <a:latin typeface="Aptos"/>
              </a:rPr>
              <a:t>WebM / Opus</a:t>
            </a:r>
          </a:p>
        </p:txBody>
      </p:sp>
      <p:cxnSp>
        <p:nvCxnSpPr>
          <p:cNvPr id="13" name="Connector 12"/>
          <p:cNvCxnSpPr/>
          <p:nvPr/>
        </p:nvCxnSpPr>
        <p:spPr>
          <a:xfrm>
            <a:off x="2715768" y="2971800"/>
            <a:ext cx="228600"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2029968" cy="178308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295144"/>
            <a:ext cx="50292" cy="1490472"/>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82112" y="2386584"/>
            <a:ext cx="1645920"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Backend</a:t>
            </a:r>
          </a:p>
        </p:txBody>
      </p:sp>
      <p:sp>
        <p:nvSpPr>
          <p:cNvPr id="17" name="TextBox 16"/>
          <p:cNvSpPr txBox="1"/>
          <p:nvPr/>
        </p:nvSpPr>
        <p:spPr>
          <a:xfrm>
            <a:off x="3182112" y="2816352"/>
            <a:ext cx="1618488" cy="101498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Validate upload</a:t>
            </a:r>
          </a:p>
          <a:p>
            <a:pPr algn="l">
              <a:spcAft>
                <a:spcPts val="300"/>
              </a:spcAft>
            </a:pPr>
            <a:r>
              <a:rPr sz="1200" b="0">
                <a:solidFill>
                  <a:srgbClr val="A8B4CC"/>
                </a:solidFill>
                <a:latin typeface="Aptos"/>
              </a:rPr>
              <a:t>Size + cleanup</a:t>
            </a:r>
          </a:p>
        </p:txBody>
      </p:sp>
      <p:cxnSp>
        <p:nvCxnSpPr>
          <p:cNvPr id="18" name="Connector 17"/>
          <p:cNvCxnSpPr/>
          <p:nvPr/>
        </p:nvCxnSpPr>
        <p:spPr>
          <a:xfrm>
            <a:off x="5038344" y="2971800"/>
            <a:ext cx="228600"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03520" y="2148840"/>
            <a:ext cx="2029968" cy="178308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03520" y="2295144"/>
            <a:ext cx="50292" cy="1490472"/>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4688" y="2386584"/>
            <a:ext cx="1645920"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Audio prep</a:t>
            </a:r>
          </a:p>
        </p:txBody>
      </p:sp>
      <p:sp>
        <p:nvSpPr>
          <p:cNvPr id="22" name="TextBox 21"/>
          <p:cNvSpPr txBox="1"/>
          <p:nvPr/>
        </p:nvSpPr>
        <p:spPr>
          <a:xfrm>
            <a:off x="5504688" y="2816352"/>
            <a:ext cx="1618488" cy="101498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FFmpeg</a:t>
            </a:r>
          </a:p>
          <a:p>
            <a:pPr algn="l">
              <a:spcAft>
                <a:spcPts val="300"/>
              </a:spcAft>
            </a:pPr>
            <a:r>
              <a:rPr sz="1200" b="0">
                <a:solidFill>
                  <a:srgbClr val="A8B4CC"/>
                </a:solidFill>
                <a:latin typeface="Aptos"/>
              </a:rPr>
              <a:t>Mono 16 kHz WAV</a:t>
            </a:r>
          </a:p>
        </p:txBody>
      </p:sp>
      <p:cxnSp>
        <p:nvCxnSpPr>
          <p:cNvPr id="23" name="Connector 22"/>
          <p:cNvCxnSpPr/>
          <p:nvPr/>
        </p:nvCxnSpPr>
        <p:spPr>
          <a:xfrm>
            <a:off x="7360920" y="2971800"/>
            <a:ext cx="228600"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626096" y="2148840"/>
            <a:ext cx="2029968" cy="178308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26096" y="2295144"/>
            <a:ext cx="50292" cy="1490472"/>
          </a:xfrm>
          <a:prstGeom prst="rect">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7264" y="2386584"/>
            <a:ext cx="1645920"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Transcription</a:t>
            </a:r>
          </a:p>
        </p:txBody>
      </p:sp>
      <p:sp>
        <p:nvSpPr>
          <p:cNvPr id="27" name="TextBox 26"/>
          <p:cNvSpPr txBox="1"/>
          <p:nvPr/>
        </p:nvSpPr>
        <p:spPr>
          <a:xfrm>
            <a:off x="7827264" y="2816352"/>
            <a:ext cx="1618488" cy="101498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Speech → text</a:t>
            </a:r>
          </a:p>
          <a:p>
            <a:pPr algn="l">
              <a:spcAft>
                <a:spcPts val="300"/>
              </a:spcAft>
            </a:pPr>
            <a:r>
              <a:rPr sz="1200" b="0">
                <a:solidFill>
                  <a:srgbClr val="A8B4CC"/>
                </a:solidFill>
                <a:latin typeface="Aptos"/>
              </a:rPr>
              <a:t>AssemblyAI / AI service</a:t>
            </a:r>
          </a:p>
        </p:txBody>
      </p:sp>
      <p:cxnSp>
        <p:nvCxnSpPr>
          <p:cNvPr id="28" name="Connector 27"/>
          <p:cNvCxnSpPr/>
          <p:nvPr/>
        </p:nvCxnSpPr>
        <p:spPr>
          <a:xfrm>
            <a:off x="9683496" y="2971800"/>
            <a:ext cx="228600" cy="0"/>
          </a:xfrm>
          <a:prstGeom prst="line">
            <a:avLst/>
          </a:prstGeom>
          <a:ln w="12700">
            <a:solidFill>
              <a:srgbClr val="74819B"/>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948672" y="2148840"/>
            <a:ext cx="2029968" cy="178308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948672" y="2295144"/>
            <a:ext cx="50292" cy="1490472"/>
          </a:xfrm>
          <a:prstGeom prst="rect">
            <a:avLst/>
          </a:prstGeom>
          <a:solidFill>
            <a:srgbClr val="F5C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49840" y="2386584"/>
            <a:ext cx="1645920"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Evaluation</a:t>
            </a:r>
          </a:p>
        </p:txBody>
      </p:sp>
      <p:sp>
        <p:nvSpPr>
          <p:cNvPr id="32" name="TextBox 31"/>
          <p:cNvSpPr txBox="1"/>
          <p:nvPr/>
        </p:nvSpPr>
        <p:spPr>
          <a:xfrm>
            <a:off x="10149840" y="2816352"/>
            <a:ext cx="1618488" cy="101498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Score + feedback</a:t>
            </a:r>
          </a:p>
          <a:p>
            <a:pPr algn="l">
              <a:spcAft>
                <a:spcPts val="300"/>
              </a:spcAft>
            </a:pPr>
            <a:r>
              <a:rPr sz="1200" b="0">
                <a:solidFill>
                  <a:srgbClr val="A8B4CC"/>
                </a:solidFill>
                <a:latin typeface="Aptos"/>
              </a:rPr>
              <a:t>Return to session</a:t>
            </a:r>
          </a:p>
        </p:txBody>
      </p:sp>
      <p:sp>
        <p:nvSpPr>
          <p:cNvPr id="33" name="TextBox 32"/>
          <p:cNvSpPr txBox="1"/>
          <p:nvPr/>
        </p:nvSpPr>
        <p:spPr>
          <a:xfrm>
            <a:off x="777240" y="4709160"/>
            <a:ext cx="10515600" cy="411480"/>
          </a:xfrm>
          <a:prstGeom prst="rect">
            <a:avLst/>
          </a:prstGeom>
          <a:noFill/>
        </p:spPr>
        <p:txBody>
          <a:bodyPr wrap="square" lIns="0" rIns="0" tIns="0" bIns="0" anchor="t">
            <a:spAutoFit/>
          </a:bodyPr>
          <a:lstStyle/>
          <a:p>
            <a:pPr algn="l">
              <a:spcAft>
                <a:spcPts val="300"/>
              </a:spcAft>
            </a:pPr>
            <a:r>
              <a:rPr sz="1700" b="1">
                <a:solidFill>
                  <a:srgbClr val="F4F7FF"/>
                </a:solidFill>
                <a:latin typeface="Aptos"/>
              </a:rPr>
              <a:t>User action: allow microphone → record → submit → wait for analysis.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03 / CODING PRACTICE</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Step 5B: coding answer pipeline</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13</a:t>
            </a:r>
          </a:p>
        </p:txBody>
      </p:sp>
      <p:sp>
        <p:nvSpPr>
          <p:cNvPr id="9" name="Rounded Rectangle 8"/>
          <p:cNvSpPr/>
          <p:nvPr/>
        </p:nvSpPr>
        <p:spPr>
          <a:xfrm>
            <a:off x="749808" y="1901952"/>
            <a:ext cx="6720840" cy="3063240"/>
          </a:xfrm>
          <a:prstGeom prst="roundRect">
            <a:avLst>
              <a:gd name="adj" fmla="val 14000"/>
            </a:avLst>
          </a:prstGeom>
          <a:solidFill>
            <a:srgbClr val="101827"/>
          </a:solidFill>
          <a:ln w="12700">
            <a:solidFill>
              <a:srgbClr val="293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148840"/>
            <a:ext cx="603504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CODE EDITOR  /  JAVASCRIPT  ▾</a:t>
            </a:r>
          </a:p>
        </p:txBody>
      </p:sp>
      <p:sp>
        <p:nvSpPr>
          <p:cNvPr id="11" name="TextBox 10"/>
          <p:cNvSpPr txBox="1"/>
          <p:nvPr/>
        </p:nvSpPr>
        <p:spPr>
          <a:xfrm>
            <a:off x="1097280" y="2615184"/>
            <a:ext cx="5760720" cy="219456"/>
          </a:xfrm>
          <a:prstGeom prst="rect">
            <a:avLst/>
          </a:prstGeom>
          <a:noFill/>
        </p:spPr>
        <p:txBody>
          <a:bodyPr wrap="square" lIns="0" rIns="0" tIns="0" bIns="0" anchor="t">
            <a:spAutoFit/>
          </a:bodyPr>
          <a:lstStyle/>
          <a:p>
            <a:pPr algn="l">
              <a:spcAft>
                <a:spcPts val="300"/>
              </a:spcAft>
            </a:pPr>
            <a:r>
              <a:rPr sz="1100" b="0">
                <a:solidFill>
                  <a:srgbClr val="C5D1E8"/>
                </a:solidFill>
                <a:latin typeface="Cascadia Code"/>
              </a:rPr>
              <a:t> 1   function findPair(numbers, target) {</a:t>
            </a:r>
          </a:p>
        </p:txBody>
      </p:sp>
      <p:sp>
        <p:nvSpPr>
          <p:cNvPr id="12" name="TextBox 11"/>
          <p:cNvSpPr txBox="1"/>
          <p:nvPr/>
        </p:nvSpPr>
        <p:spPr>
          <a:xfrm>
            <a:off x="1097280" y="2880360"/>
            <a:ext cx="5760720" cy="219456"/>
          </a:xfrm>
          <a:prstGeom prst="rect">
            <a:avLst/>
          </a:prstGeom>
          <a:noFill/>
        </p:spPr>
        <p:txBody>
          <a:bodyPr wrap="square" lIns="0" rIns="0" tIns="0" bIns="0" anchor="t">
            <a:spAutoFit/>
          </a:bodyPr>
          <a:lstStyle/>
          <a:p>
            <a:pPr algn="l">
              <a:spcAft>
                <a:spcPts val="300"/>
              </a:spcAft>
            </a:pPr>
            <a:r>
              <a:rPr sz="1100" b="0">
                <a:solidFill>
                  <a:srgbClr val="C5D1E8"/>
                </a:solidFill>
                <a:latin typeface="Cascadia Code"/>
              </a:rPr>
              <a:t> 2     const seen = new Map();</a:t>
            </a:r>
          </a:p>
        </p:txBody>
      </p:sp>
      <p:sp>
        <p:nvSpPr>
          <p:cNvPr id="13" name="TextBox 12"/>
          <p:cNvSpPr txBox="1"/>
          <p:nvPr/>
        </p:nvSpPr>
        <p:spPr>
          <a:xfrm>
            <a:off x="1097280" y="3145536"/>
            <a:ext cx="5760720" cy="219456"/>
          </a:xfrm>
          <a:prstGeom prst="rect">
            <a:avLst/>
          </a:prstGeom>
          <a:noFill/>
        </p:spPr>
        <p:txBody>
          <a:bodyPr wrap="square" lIns="0" rIns="0" tIns="0" bIns="0" anchor="t">
            <a:spAutoFit/>
          </a:bodyPr>
          <a:lstStyle/>
          <a:p>
            <a:pPr algn="l">
              <a:spcAft>
                <a:spcPts val="300"/>
              </a:spcAft>
            </a:pPr>
            <a:r>
              <a:rPr sz="1100" b="0">
                <a:solidFill>
                  <a:srgbClr val="C5D1E8"/>
                </a:solidFill>
                <a:latin typeface="Cascadia Code"/>
              </a:rPr>
              <a:t> 3     for (const value of numbers) {</a:t>
            </a:r>
          </a:p>
        </p:txBody>
      </p:sp>
      <p:sp>
        <p:nvSpPr>
          <p:cNvPr id="14" name="TextBox 13"/>
          <p:cNvSpPr txBox="1"/>
          <p:nvPr/>
        </p:nvSpPr>
        <p:spPr>
          <a:xfrm>
            <a:off x="1097280" y="3410711"/>
            <a:ext cx="5760720" cy="219456"/>
          </a:xfrm>
          <a:prstGeom prst="rect">
            <a:avLst/>
          </a:prstGeom>
          <a:noFill/>
        </p:spPr>
        <p:txBody>
          <a:bodyPr wrap="square" lIns="0" rIns="0" tIns="0" bIns="0" anchor="t">
            <a:spAutoFit/>
          </a:bodyPr>
          <a:lstStyle/>
          <a:p>
            <a:pPr algn="l">
              <a:spcAft>
                <a:spcPts val="300"/>
              </a:spcAft>
            </a:pPr>
            <a:r>
              <a:rPr sz="1100" b="0">
                <a:solidFill>
                  <a:srgbClr val="C5D1E8"/>
                </a:solidFill>
                <a:latin typeface="Cascadia Code"/>
              </a:rPr>
              <a:t> 4       const needed = target - value;</a:t>
            </a:r>
          </a:p>
        </p:txBody>
      </p:sp>
      <p:sp>
        <p:nvSpPr>
          <p:cNvPr id="15" name="TextBox 14"/>
          <p:cNvSpPr txBox="1"/>
          <p:nvPr/>
        </p:nvSpPr>
        <p:spPr>
          <a:xfrm>
            <a:off x="1097280" y="3675887"/>
            <a:ext cx="5760720" cy="219456"/>
          </a:xfrm>
          <a:prstGeom prst="rect">
            <a:avLst/>
          </a:prstGeom>
          <a:noFill/>
        </p:spPr>
        <p:txBody>
          <a:bodyPr wrap="square" lIns="0" rIns="0" tIns="0" bIns="0" anchor="t">
            <a:spAutoFit/>
          </a:bodyPr>
          <a:lstStyle/>
          <a:p>
            <a:pPr algn="l">
              <a:spcAft>
                <a:spcPts val="300"/>
              </a:spcAft>
            </a:pPr>
            <a:r>
              <a:rPr sz="1100" b="0">
                <a:solidFill>
                  <a:srgbClr val="C5D1E8"/>
                </a:solidFill>
                <a:latin typeface="Cascadia Code"/>
              </a:rPr>
              <a:t> 5       if (seen.has(needed)) return [needed, value];</a:t>
            </a:r>
          </a:p>
        </p:txBody>
      </p:sp>
      <p:sp>
        <p:nvSpPr>
          <p:cNvPr id="16" name="TextBox 15"/>
          <p:cNvSpPr txBox="1"/>
          <p:nvPr/>
        </p:nvSpPr>
        <p:spPr>
          <a:xfrm>
            <a:off x="1097280" y="3941063"/>
            <a:ext cx="5760720" cy="219456"/>
          </a:xfrm>
          <a:prstGeom prst="rect">
            <a:avLst/>
          </a:prstGeom>
          <a:noFill/>
        </p:spPr>
        <p:txBody>
          <a:bodyPr wrap="square" lIns="0" rIns="0" tIns="0" bIns="0" anchor="t">
            <a:spAutoFit/>
          </a:bodyPr>
          <a:lstStyle/>
          <a:p>
            <a:pPr algn="l">
              <a:spcAft>
                <a:spcPts val="300"/>
              </a:spcAft>
            </a:pPr>
            <a:r>
              <a:rPr sz="1100" b="0">
                <a:solidFill>
                  <a:srgbClr val="C5D1E8"/>
                </a:solidFill>
                <a:latin typeface="Cascadia Code"/>
              </a:rPr>
              <a:t> 6       seen.set(value, true);</a:t>
            </a:r>
          </a:p>
        </p:txBody>
      </p:sp>
      <p:sp>
        <p:nvSpPr>
          <p:cNvPr id="17" name="TextBox 16"/>
          <p:cNvSpPr txBox="1"/>
          <p:nvPr/>
        </p:nvSpPr>
        <p:spPr>
          <a:xfrm>
            <a:off x="1097280" y="4206240"/>
            <a:ext cx="5760720" cy="219456"/>
          </a:xfrm>
          <a:prstGeom prst="rect">
            <a:avLst/>
          </a:prstGeom>
          <a:noFill/>
        </p:spPr>
        <p:txBody>
          <a:bodyPr wrap="square" lIns="0" rIns="0" tIns="0" bIns="0" anchor="t">
            <a:spAutoFit/>
          </a:bodyPr>
          <a:lstStyle/>
          <a:p>
            <a:pPr algn="l">
              <a:spcAft>
                <a:spcPts val="300"/>
              </a:spcAft>
            </a:pPr>
            <a:r>
              <a:rPr sz="1100" b="0">
                <a:solidFill>
                  <a:srgbClr val="C5D1E8"/>
                </a:solidFill>
                <a:latin typeface="Cascadia Code"/>
              </a:rPr>
              <a:t> 7     }</a:t>
            </a:r>
          </a:p>
        </p:txBody>
      </p:sp>
      <p:sp>
        <p:nvSpPr>
          <p:cNvPr id="18" name="TextBox 17"/>
          <p:cNvSpPr txBox="1"/>
          <p:nvPr/>
        </p:nvSpPr>
        <p:spPr>
          <a:xfrm>
            <a:off x="1097280" y="4471416"/>
            <a:ext cx="5760720" cy="219456"/>
          </a:xfrm>
          <a:prstGeom prst="rect">
            <a:avLst/>
          </a:prstGeom>
          <a:noFill/>
        </p:spPr>
        <p:txBody>
          <a:bodyPr wrap="square" lIns="0" rIns="0" tIns="0" bIns="0" anchor="t">
            <a:spAutoFit/>
          </a:bodyPr>
          <a:lstStyle/>
          <a:p>
            <a:pPr algn="l">
              <a:spcAft>
                <a:spcPts val="300"/>
              </a:spcAft>
            </a:pPr>
            <a:r>
              <a:rPr sz="1100" b="0">
                <a:solidFill>
                  <a:srgbClr val="C5D1E8"/>
                </a:solidFill>
                <a:latin typeface="Cascadia Code"/>
              </a:rPr>
              <a:t> 8   }</a:t>
            </a:r>
          </a:p>
        </p:txBody>
      </p:sp>
      <p:sp>
        <p:nvSpPr>
          <p:cNvPr id="19" name="Rounded Rectangle 18"/>
          <p:cNvSpPr/>
          <p:nvPr/>
        </p:nvSpPr>
        <p:spPr>
          <a:xfrm>
            <a:off x="7955279" y="1920240"/>
            <a:ext cx="3337560" cy="114300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2066544"/>
            <a:ext cx="50292" cy="850392"/>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6448" y="2157984"/>
            <a:ext cx="295351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Language modes</a:t>
            </a:r>
          </a:p>
        </p:txBody>
      </p:sp>
      <p:sp>
        <p:nvSpPr>
          <p:cNvPr id="22" name="TextBox 21"/>
          <p:cNvSpPr txBox="1"/>
          <p:nvPr/>
        </p:nvSpPr>
        <p:spPr>
          <a:xfrm>
            <a:off x="8156448" y="2587752"/>
            <a:ext cx="2926079" cy="37490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JavaScript, Python, Java, C++, SQL, and more.</a:t>
            </a:r>
          </a:p>
        </p:txBody>
      </p:sp>
      <p:sp>
        <p:nvSpPr>
          <p:cNvPr id="23" name="Rounded Rectangle 22"/>
          <p:cNvSpPr/>
          <p:nvPr/>
        </p:nvSpPr>
        <p:spPr>
          <a:xfrm>
            <a:off x="7955279" y="3310128"/>
            <a:ext cx="3337560" cy="114300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55279" y="3456432"/>
            <a:ext cx="50292" cy="850392"/>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6448" y="3547872"/>
            <a:ext cx="295351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Answer submission</a:t>
            </a:r>
          </a:p>
        </p:txBody>
      </p:sp>
      <p:sp>
        <p:nvSpPr>
          <p:cNvPr id="26" name="TextBox 25"/>
          <p:cNvSpPr txBox="1"/>
          <p:nvPr/>
        </p:nvSpPr>
        <p:spPr>
          <a:xfrm>
            <a:off x="8156448" y="3977639"/>
            <a:ext cx="2926079" cy="374904"/>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Submit code with the question for AI feedback.</a:t>
            </a:r>
          </a:p>
        </p:txBody>
      </p:sp>
      <p:sp>
        <p:nvSpPr>
          <p:cNvPr id="27" name="TextBox 26"/>
          <p:cNvSpPr txBox="1"/>
          <p:nvPr/>
        </p:nvSpPr>
        <p:spPr>
          <a:xfrm>
            <a:off x="822960" y="5257800"/>
            <a:ext cx="9875520" cy="310896"/>
          </a:xfrm>
          <a:prstGeom prst="rect">
            <a:avLst/>
          </a:prstGeom>
          <a:noFill/>
        </p:spPr>
        <p:txBody>
          <a:bodyPr wrap="square" lIns="0" rIns="0" tIns="0" bIns="0" anchor="t">
            <a:spAutoFit/>
          </a:bodyPr>
          <a:lstStyle/>
          <a:p>
            <a:pPr algn="l">
              <a:spcAft>
                <a:spcPts val="300"/>
              </a:spcAft>
            </a:pPr>
            <a:r>
              <a:rPr sz="1400" b="0">
                <a:solidFill>
                  <a:srgbClr val="A8B4CC"/>
                </a:solidFill>
                <a:latin typeface="Aptos"/>
              </a:rPr>
              <a:t>The role can preselect a sensible starting language; users can change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03 / FEEDBACK LOOP</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Step 6: AI evaluates each submitted answer</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14</a:t>
            </a:r>
          </a:p>
        </p:txBody>
      </p:sp>
      <p:sp>
        <p:nvSpPr>
          <p:cNvPr id="9" name="Rounded Rectangle 8"/>
          <p:cNvSpPr/>
          <p:nvPr/>
        </p:nvSpPr>
        <p:spPr>
          <a:xfrm>
            <a:off x="777240" y="1920240"/>
            <a:ext cx="3154680" cy="214884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066544"/>
            <a:ext cx="50292" cy="1856232"/>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157984"/>
            <a:ext cx="277063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Technical score</a:t>
            </a:r>
          </a:p>
        </p:txBody>
      </p:sp>
      <p:sp>
        <p:nvSpPr>
          <p:cNvPr id="12" name="TextBox 11"/>
          <p:cNvSpPr txBox="1"/>
          <p:nvPr/>
        </p:nvSpPr>
        <p:spPr>
          <a:xfrm>
            <a:off x="978408" y="2587752"/>
            <a:ext cx="2743200" cy="138074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How well the response addresses the technical question.</a:t>
            </a:r>
          </a:p>
        </p:txBody>
      </p:sp>
      <p:sp>
        <p:nvSpPr>
          <p:cNvPr id="13" name="Rounded Rectangle 12"/>
          <p:cNvSpPr/>
          <p:nvPr/>
        </p:nvSpPr>
        <p:spPr>
          <a:xfrm>
            <a:off x="4526280" y="1920240"/>
            <a:ext cx="3154680" cy="214884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2066544"/>
            <a:ext cx="50292" cy="1856232"/>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2157984"/>
            <a:ext cx="277063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Confidence score</a:t>
            </a:r>
          </a:p>
        </p:txBody>
      </p:sp>
      <p:sp>
        <p:nvSpPr>
          <p:cNvPr id="16" name="TextBox 15"/>
          <p:cNvSpPr txBox="1"/>
          <p:nvPr/>
        </p:nvSpPr>
        <p:spPr>
          <a:xfrm>
            <a:off x="4727448" y="2587752"/>
            <a:ext cx="2743200" cy="138074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A separate measure surfaced in the feedback for the answer.</a:t>
            </a:r>
          </a:p>
        </p:txBody>
      </p:sp>
      <p:sp>
        <p:nvSpPr>
          <p:cNvPr id="17" name="Rounded Rectangle 16"/>
          <p:cNvSpPr/>
          <p:nvPr/>
        </p:nvSpPr>
        <p:spPr>
          <a:xfrm>
            <a:off x="8275320" y="1920240"/>
            <a:ext cx="3154680" cy="214884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2066544"/>
            <a:ext cx="50292" cy="1856232"/>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76488" y="2157984"/>
            <a:ext cx="277063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Actionable feedback</a:t>
            </a:r>
          </a:p>
        </p:txBody>
      </p:sp>
      <p:sp>
        <p:nvSpPr>
          <p:cNvPr id="20" name="TextBox 19"/>
          <p:cNvSpPr txBox="1"/>
          <p:nvPr/>
        </p:nvSpPr>
        <p:spPr>
          <a:xfrm>
            <a:off x="8476488" y="2587752"/>
            <a:ext cx="2743200" cy="1380743"/>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Written AI feedback plus an ideal-answer reference.</a:t>
            </a:r>
          </a:p>
        </p:txBody>
      </p:sp>
      <p:sp>
        <p:nvSpPr>
          <p:cNvPr id="21" name="Rounded Rectangle 20"/>
          <p:cNvSpPr/>
          <p:nvPr/>
        </p:nvSpPr>
        <p:spPr>
          <a:xfrm>
            <a:off x="822960" y="4572000"/>
            <a:ext cx="10469880" cy="603504"/>
          </a:xfrm>
          <a:prstGeom prst="roundRect">
            <a:avLst>
              <a:gd name="adj" fmla="val 14000"/>
            </a:avLst>
          </a:prstGeom>
          <a:solidFill>
            <a:srgbClr val="121A2B"/>
          </a:solidFill>
          <a:ln w="12700">
            <a:solidFill>
              <a:srgbClr val="30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745736"/>
            <a:ext cx="9966960" cy="274320"/>
          </a:xfrm>
          <a:prstGeom prst="rect">
            <a:avLst/>
          </a:prstGeom>
          <a:noFill/>
        </p:spPr>
        <p:txBody>
          <a:bodyPr wrap="square" lIns="0" rIns="0" tIns="0" bIns="0" anchor="t">
            <a:spAutoFit/>
          </a:bodyPr>
          <a:lstStyle/>
          <a:p>
            <a:pPr algn="ctr">
              <a:spcAft>
                <a:spcPts val="300"/>
              </a:spcAft>
            </a:pPr>
            <a:r>
              <a:rPr sz="1600" b="1">
                <a:solidFill>
                  <a:srgbClr val="F4F7FF"/>
                </a:solidFill>
                <a:latin typeface="Aptos"/>
              </a:rPr>
              <a:t>Submit answer  →  transcribe if needed  →  evaluate  →  save result to session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03 / LEARN FROM RESULTS</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Step 7: review the completed interview</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15</a:t>
            </a:r>
          </a:p>
        </p:txBody>
      </p:sp>
      <p:sp>
        <p:nvSpPr>
          <p:cNvPr id="9" name="Rounded Rectangle 8"/>
          <p:cNvSpPr/>
          <p:nvPr/>
        </p:nvSpPr>
        <p:spPr>
          <a:xfrm>
            <a:off x="731520" y="1847088"/>
            <a:ext cx="2423160" cy="1207008"/>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993392"/>
            <a:ext cx="50292" cy="914400"/>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84832"/>
            <a:ext cx="203911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Overall score</a:t>
            </a:r>
          </a:p>
        </p:txBody>
      </p:sp>
      <p:sp>
        <p:nvSpPr>
          <p:cNvPr id="12" name="TextBox 11"/>
          <p:cNvSpPr txBox="1"/>
          <p:nvPr/>
        </p:nvSpPr>
        <p:spPr>
          <a:xfrm>
            <a:off x="932688" y="2514600"/>
            <a:ext cx="2011679" cy="438911"/>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Session summary</a:t>
            </a:r>
          </a:p>
        </p:txBody>
      </p:sp>
      <p:sp>
        <p:nvSpPr>
          <p:cNvPr id="13" name="Rounded Rectangle 12"/>
          <p:cNvSpPr/>
          <p:nvPr/>
        </p:nvSpPr>
        <p:spPr>
          <a:xfrm>
            <a:off x="3337560" y="1847088"/>
            <a:ext cx="2423160" cy="1207008"/>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993392"/>
            <a:ext cx="50292" cy="914400"/>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8" y="2084832"/>
            <a:ext cx="203911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Technical</a:t>
            </a:r>
          </a:p>
        </p:txBody>
      </p:sp>
      <p:sp>
        <p:nvSpPr>
          <p:cNvPr id="16" name="TextBox 15"/>
          <p:cNvSpPr txBox="1"/>
          <p:nvPr/>
        </p:nvSpPr>
        <p:spPr>
          <a:xfrm>
            <a:off x="3538728" y="2514600"/>
            <a:ext cx="2011679" cy="438911"/>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Average score</a:t>
            </a:r>
          </a:p>
        </p:txBody>
      </p:sp>
      <p:sp>
        <p:nvSpPr>
          <p:cNvPr id="17" name="Rounded Rectangle 16"/>
          <p:cNvSpPr/>
          <p:nvPr/>
        </p:nvSpPr>
        <p:spPr>
          <a:xfrm>
            <a:off x="5943600" y="1847088"/>
            <a:ext cx="2423160" cy="1207008"/>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0" y="1993392"/>
            <a:ext cx="50292" cy="914400"/>
          </a:xfrm>
          <a:prstGeom prst="rect">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2084832"/>
            <a:ext cx="203911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Confidence</a:t>
            </a:r>
          </a:p>
        </p:txBody>
      </p:sp>
      <p:sp>
        <p:nvSpPr>
          <p:cNvPr id="20" name="TextBox 19"/>
          <p:cNvSpPr txBox="1"/>
          <p:nvPr/>
        </p:nvSpPr>
        <p:spPr>
          <a:xfrm>
            <a:off x="6144768" y="2514600"/>
            <a:ext cx="2011679" cy="438911"/>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Average score</a:t>
            </a:r>
          </a:p>
        </p:txBody>
      </p:sp>
      <p:sp>
        <p:nvSpPr>
          <p:cNvPr id="21" name="Rounded Rectangle 20"/>
          <p:cNvSpPr/>
          <p:nvPr/>
        </p:nvSpPr>
        <p:spPr>
          <a:xfrm>
            <a:off x="8549640" y="1847088"/>
            <a:ext cx="2423160" cy="1207008"/>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49640" y="1993392"/>
            <a:ext cx="50292" cy="914400"/>
          </a:xfrm>
          <a:prstGeom prst="rect">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50808" y="2084832"/>
            <a:ext cx="203911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Duration</a:t>
            </a:r>
          </a:p>
        </p:txBody>
      </p:sp>
      <p:sp>
        <p:nvSpPr>
          <p:cNvPr id="24" name="TextBox 23"/>
          <p:cNvSpPr txBox="1"/>
          <p:nvPr/>
        </p:nvSpPr>
        <p:spPr>
          <a:xfrm>
            <a:off x="8750808" y="2514600"/>
            <a:ext cx="2011679" cy="438911"/>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Time taken</a:t>
            </a:r>
          </a:p>
        </p:txBody>
      </p:sp>
      <p:sp>
        <p:nvSpPr>
          <p:cNvPr id="25" name="Rounded Rectangle 24"/>
          <p:cNvSpPr/>
          <p:nvPr/>
        </p:nvSpPr>
        <p:spPr>
          <a:xfrm>
            <a:off x="777240" y="3474720"/>
            <a:ext cx="5760720" cy="1600200"/>
          </a:xfrm>
          <a:prstGeom prst="roundRect">
            <a:avLst>
              <a:gd name="adj" fmla="val 14000"/>
            </a:avLst>
          </a:prstGeom>
          <a:solidFill>
            <a:srgbClr val="111A2E"/>
          </a:solidFill>
          <a:ln w="12700">
            <a:solidFill>
              <a:srgbClr val="293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703320"/>
            <a:ext cx="438912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QUESTION SCORE CHART</a:t>
            </a:r>
          </a:p>
        </p:txBody>
      </p:sp>
      <p:sp>
        <p:nvSpPr>
          <p:cNvPr id="27" name="Rounded Rectangle 26"/>
          <p:cNvSpPr/>
          <p:nvPr/>
        </p:nvSpPr>
        <p:spPr>
          <a:xfrm>
            <a:off x="1188720" y="4224528"/>
            <a:ext cx="384048" cy="502920"/>
          </a:xfrm>
          <a:prstGeom prst="roundRect">
            <a:avLst>
              <a:gd name="adj" fmla="val 14000"/>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52144" y="4800600"/>
            <a:ext cx="457200" cy="164592"/>
          </a:xfrm>
          <a:prstGeom prst="rect">
            <a:avLst/>
          </a:prstGeom>
          <a:noFill/>
        </p:spPr>
        <p:txBody>
          <a:bodyPr wrap="square" lIns="0" rIns="0" tIns="0" bIns="0" anchor="t">
            <a:spAutoFit/>
          </a:bodyPr>
          <a:lstStyle/>
          <a:p>
            <a:pPr algn="ctr">
              <a:spcAft>
                <a:spcPts val="300"/>
              </a:spcAft>
            </a:pPr>
            <a:r>
              <a:rPr sz="800" b="0">
                <a:solidFill>
                  <a:srgbClr val="A8B4CC"/>
                </a:solidFill>
                <a:latin typeface="Aptos"/>
              </a:rPr>
              <a:t>Q1</a:t>
            </a:r>
          </a:p>
        </p:txBody>
      </p:sp>
      <p:sp>
        <p:nvSpPr>
          <p:cNvPr id="29" name="Rounded Rectangle 28"/>
          <p:cNvSpPr/>
          <p:nvPr/>
        </p:nvSpPr>
        <p:spPr>
          <a:xfrm>
            <a:off x="1947672" y="3858768"/>
            <a:ext cx="384048" cy="868680"/>
          </a:xfrm>
          <a:prstGeom prst="roundRect">
            <a:avLst>
              <a:gd name="adj" fmla="val 14000"/>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11095" y="4800600"/>
            <a:ext cx="457200" cy="164592"/>
          </a:xfrm>
          <a:prstGeom prst="rect">
            <a:avLst/>
          </a:prstGeom>
          <a:noFill/>
        </p:spPr>
        <p:txBody>
          <a:bodyPr wrap="square" lIns="0" rIns="0" tIns="0" bIns="0" anchor="t">
            <a:spAutoFit/>
          </a:bodyPr>
          <a:lstStyle/>
          <a:p>
            <a:pPr algn="ctr">
              <a:spcAft>
                <a:spcPts val="300"/>
              </a:spcAft>
            </a:pPr>
            <a:r>
              <a:rPr sz="800" b="0">
                <a:solidFill>
                  <a:srgbClr val="A8B4CC"/>
                </a:solidFill>
                <a:latin typeface="Aptos"/>
              </a:rPr>
              <a:t>Q2</a:t>
            </a:r>
          </a:p>
        </p:txBody>
      </p:sp>
      <p:sp>
        <p:nvSpPr>
          <p:cNvPr id="31" name="Rounded Rectangle 30"/>
          <p:cNvSpPr/>
          <p:nvPr/>
        </p:nvSpPr>
        <p:spPr>
          <a:xfrm>
            <a:off x="2706624" y="4069080"/>
            <a:ext cx="384048" cy="658368"/>
          </a:xfrm>
          <a:prstGeom prst="roundRect">
            <a:avLst>
              <a:gd name="adj" fmla="val 14000"/>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70048" y="4800600"/>
            <a:ext cx="457200" cy="164592"/>
          </a:xfrm>
          <a:prstGeom prst="rect">
            <a:avLst/>
          </a:prstGeom>
          <a:noFill/>
        </p:spPr>
        <p:txBody>
          <a:bodyPr wrap="square" lIns="0" rIns="0" tIns="0" bIns="0" anchor="t">
            <a:spAutoFit/>
          </a:bodyPr>
          <a:lstStyle/>
          <a:p>
            <a:pPr algn="ctr">
              <a:spcAft>
                <a:spcPts val="300"/>
              </a:spcAft>
            </a:pPr>
            <a:r>
              <a:rPr sz="800" b="0">
                <a:solidFill>
                  <a:srgbClr val="A8B4CC"/>
                </a:solidFill>
                <a:latin typeface="Aptos"/>
              </a:rPr>
              <a:t>Q3</a:t>
            </a:r>
          </a:p>
        </p:txBody>
      </p:sp>
      <p:sp>
        <p:nvSpPr>
          <p:cNvPr id="33" name="Rounded Rectangle 32"/>
          <p:cNvSpPr/>
          <p:nvPr/>
        </p:nvSpPr>
        <p:spPr>
          <a:xfrm>
            <a:off x="3465576" y="3694176"/>
            <a:ext cx="384048" cy="1033271"/>
          </a:xfrm>
          <a:prstGeom prst="roundRect">
            <a:avLst>
              <a:gd name="adj" fmla="val 14000"/>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29000" y="4800600"/>
            <a:ext cx="457200" cy="164592"/>
          </a:xfrm>
          <a:prstGeom prst="rect">
            <a:avLst/>
          </a:prstGeom>
          <a:noFill/>
        </p:spPr>
        <p:txBody>
          <a:bodyPr wrap="square" lIns="0" rIns="0" tIns="0" bIns="0" anchor="t">
            <a:spAutoFit/>
          </a:bodyPr>
          <a:lstStyle/>
          <a:p>
            <a:pPr algn="ctr">
              <a:spcAft>
                <a:spcPts val="300"/>
              </a:spcAft>
            </a:pPr>
            <a:r>
              <a:rPr sz="800" b="0">
                <a:solidFill>
                  <a:srgbClr val="A8B4CC"/>
                </a:solidFill>
                <a:latin typeface="Aptos"/>
              </a:rPr>
              <a:t>Q4</a:t>
            </a:r>
          </a:p>
        </p:txBody>
      </p:sp>
      <p:sp>
        <p:nvSpPr>
          <p:cNvPr id="35" name="Rounded Rectangle 34"/>
          <p:cNvSpPr/>
          <p:nvPr/>
        </p:nvSpPr>
        <p:spPr>
          <a:xfrm>
            <a:off x="4224528" y="3977639"/>
            <a:ext cx="384048" cy="749808"/>
          </a:xfrm>
          <a:prstGeom prst="roundRect">
            <a:avLst>
              <a:gd name="adj" fmla="val 14000"/>
            </a:avLst>
          </a:prstGeom>
          <a:solidFill>
            <a:srgbClr val="F5C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87952" y="4800600"/>
            <a:ext cx="457200" cy="164592"/>
          </a:xfrm>
          <a:prstGeom prst="rect">
            <a:avLst/>
          </a:prstGeom>
          <a:noFill/>
        </p:spPr>
        <p:txBody>
          <a:bodyPr wrap="square" lIns="0" rIns="0" tIns="0" bIns="0" anchor="t">
            <a:spAutoFit/>
          </a:bodyPr>
          <a:lstStyle/>
          <a:p>
            <a:pPr algn="ctr">
              <a:spcAft>
                <a:spcPts val="300"/>
              </a:spcAft>
            </a:pPr>
            <a:r>
              <a:rPr sz="800" b="0">
                <a:solidFill>
                  <a:srgbClr val="A8B4CC"/>
                </a:solidFill>
                <a:latin typeface="Aptos"/>
              </a:rPr>
              <a:t>Q5</a:t>
            </a:r>
          </a:p>
        </p:txBody>
      </p:sp>
      <p:sp>
        <p:nvSpPr>
          <p:cNvPr id="37" name="Rounded Rectangle 36"/>
          <p:cNvSpPr/>
          <p:nvPr/>
        </p:nvSpPr>
        <p:spPr>
          <a:xfrm>
            <a:off x="4983479" y="3611880"/>
            <a:ext cx="384048" cy="1115568"/>
          </a:xfrm>
          <a:prstGeom prst="roundRect">
            <a:avLst>
              <a:gd name="adj" fmla="val 14000"/>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46903" y="4800600"/>
            <a:ext cx="457200" cy="164592"/>
          </a:xfrm>
          <a:prstGeom prst="rect">
            <a:avLst/>
          </a:prstGeom>
          <a:noFill/>
        </p:spPr>
        <p:txBody>
          <a:bodyPr wrap="square" lIns="0" rIns="0" tIns="0" bIns="0" anchor="t">
            <a:spAutoFit/>
          </a:bodyPr>
          <a:lstStyle/>
          <a:p>
            <a:pPr algn="ctr">
              <a:spcAft>
                <a:spcPts val="300"/>
              </a:spcAft>
            </a:pPr>
            <a:r>
              <a:rPr sz="800" b="0">
                <a:solidFill>
                  <a:srgbClr val="A8B4CC"/>
                </a:solidFill>
                <a:latin typeface="Aptos"/>
              </a:rPr>
              <a:t>Q6</a:t>
            </a:r>
          </a:p>
        </p:txBody>
      </p:sp>
      <p:sp>
        <p:nvSpPr>
          <p:cNvPr id="39" name="Rounded Rectangle 38"/>
          <p:cNvSpPr/>
          <p:nvPr/>
        </p:nvSpPr>
        <p:spPr>
          <a:xfrm>
            <a:off x="6995160" y="3474720"/>
            <a:ext cx="4160520" cy="160020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95160" y="3621024"/>
            <a:ext cx="50292" cy="1307592"/>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96328" y="3712463"/>
            <a:ext cx="377647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Question-by-question learning</a:t>
            </a:r>
          </a:p>
        </p:txBody>
      </p:sp>
      <p:sp>
        <p:nvSpPr>
          <p:cNvPr id="42" name="TextBox 41"/>
          <p:cNvSpPr txBox="1"/>
          <p:nvPr/>
        </p:nvSpPr>
        <p:spPr>
          <a:xfrm>
            <a:off x="7196328" y="4142231"/>
            <a:ext cx="3749039" cy="832104"/>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Review the prompt, your answer, scores, AI feedback, and ideal answer.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04 / USER EXPERIENCE</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A polished and adaptable interface</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16</a:t>
            </a:r>
          </a:p>
        </p:txBody>
      </p:sp>
      <p:sp>
        <p:nvSpPr>
          <p:cNvPr id="9" name="Rounded Rectangle 8"/>
          <p:cNvSpPr/>
          <p:nvPr/>
        </p:nvSpPr>
        <p:spPr>
          <a:xfrm>
            <a:off x="749808" y="2029968"/>
            <a:ext cx="2487168" cy="2148840"/>
          </a:xfrm>
          <a:prstGeom prst="roundRect">
            <a:avLst>
              <a:gd name="adj" fmla="val 14000"/>
            </a:avLst>
          </a:prstGeom>
          <a:solidFill>
            <a:srgbClr val="111A2E"/>
          </a:solidFill>
          <a:ln w="12700">
            <a:solidFill>
              <a:srgbClr val="293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527048" y="2359152"/>
            <a:ext cx="914400" cy="9144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93008"/>
            <a:ext cx="2157984" cy="219456"/>
          </a:xfrm>
          <a:prstGeom prst="rect">
            <a:avLst/>
          </a:prstGeom>
          <a:noFill/>
        </p:spPr>
        <p:txBody>
          <a:bodyPr wrap="square" lIns="0" rIns="0" tIns="0" bIns="0" anchor="t">
            <a:spAutoFit/>
          </a:bodyPr>
          <a:lstStyle/>
          <a:p>
            <a:pPr algn="ctr">
              <a:spcAft>
                <a:spcPts val="300"/>
              </a:spcAft>
            </a:pPr>
            <a:r>
              <a:rPr sz="1100" b="1">
                <a:solidFill>
                  <a:srgbClr val="F4F7FF"/>
                </a:solidFill>
                <a:latin typeface="Aptos"/>
              </a:rPr>
              <a:t>MIDNIGHT</a:t>
            </a:r>
          </a:p>
        </p:txBody>
      </p:sp>
      <p:sp>
        <p:nvSpPr>
          <p:cNvPr id="12" name="TextBox 11"/>
          <p:cNvSpPr txBox="1"/>
          <p:nvPr/>
        </p:nvSpPr>
        <p:spPr>
          <a:xfrm>
            <a:off x="914400" y="3803904"/>
            <a:ext cx="2157984" cy="256032"/>
          </a:xfrm>
          <a:prstGeom prst="rect">
            <a:avLst/>
          </a:prstGeom>
          <a:noFill/>
        </p:spPr>
        <p:txBody>
          <a:bodyPr wrap="square" lIns="0" rIns="0" tIns="0" bIns="0" anchor="t">
            <a:spAutoFit/>
          </a:bodyPr>
          <a:lstStyle/>
          <a:p>
            <a:pPr algn="ctr">
              <a:spcAft>
                <a:spcPts val="300"/>
              </a:spcAft>
            </a:pPr>
            <a:r>
              <a:rPr sz="1000" b="0">
                <a:solidFill>
                  <a:srgbClr val="A8B4CC"/>
                </a:solidFill>
                <a:latin typeface="Aptos"/>
              </a:rPr>
              <a:t>A deep indigo default</a:t>
            </a:r>
          </a:p>
        </p:txBody>
      </p:sp>
      <p:sp>
        <p:nvSpPr>
          <p:cNvPr id="13" name="Rounded Rectangle 12"/>
          <p:cNvSpPr/>
          <p:nvPr/>
        </p:nvSpPr>
        <p:spPr>
          <a:xfrm>
            <a:off x="3538727" y="2029968"/>
            <a:ext cx="2487168" cy="2148840"/>
          </a:xfrm>
          <a:prstGeom prst="roundRect">
            <a:avLst>
              <a:gd name="adj" fmla="val 14000"/>
            </a:avLst>
          </a:prstGeom>
          <a:solidFill>
            <a:srgbClr val="111A2E"/>
          </a:solidFill>
          <a:ln w="12700">
            <a:solidFill>
              <a:srgbClr val="293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315968" y="2359152"/>
            <a:ext cx="914400" cy="91440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3320" y="3493008"/>
            <a:ext cx="2157984" cy="219456"/>
          </a:xfrm>
          <a:prstGeom prst="rect">
            <a:avLst/>
          </a:prstGeom>
          <a:noFill/>
        </p:spPr>
        <p:txBody>
          <a:bodyPr wrap="square" lIns="0" rIns="0" tIns="0" bIns="0" anchor="t">
            <a:spAutoFit/>
          </a:bodyPr>
          <a:lstStyle/>
          <a:p>
            <a:pPr algn="ctr">
              <a:spcAft>
                <a:spcPts val="300"/>
              </a:spcAft>
            </a:pPr>
            <a:r>
              <a:rPr sz="1100" b="1">
                <a:solidFill>
                  <a:srgbClr val="F4F7FF"/>
                </a:solidFill>
                <a:latin typeface="Aptos"/>
              </a:rPr>
              <a:t>OCEAN</a:t>
            </a:r>
          </a:p>
        </p:txBody>
      </p:sp>
      <p:sp>
        <p:nvSpPr>
          <p:cNvPr id="16" name="TextBox 15"/>
          <p:cNvSpPr txBox="1"/>
          <p:nvPr/>
        </p:nvSpPr>
        <p:spPr>
          <a:xfrm>
            <a:off x="3703320" y="3803904"/>
            <a:ext cx="2157984" cy="256032"/>
          </a:xfrm>
          <a:prstGeom prst="rect">
            <a:avLst/>
          </a:prstGeom>
          <a:noFill/>
        </p:spPr>
        <p:txBody>
          <a:bodyPr wrap="square" lIns="0" rIns="0" tIns="0" bIns="0" anchor="t">
            <a:spAutoFit/>
          </a:bodyPr>
          <a:lstStyle/>
          <a:p>
            <a:pPr algn="ctr">
              <a:spcAft>
                <a:spcPts val="300"/>
              </a:spcAft>
            </a:pPr>
            <a:r>
              <a:rPr sz="1000" b="0">
                <a:solidFill>
                  <a:srgbClr val="A8B4CC"/>
                </a:solidFill>
                <a:latin typeface="Aptos"/>
              </a:rPr>
              <a:t>Cool cyan + blue</a:t>
            </a:r>
          </a:p>
        </p:txBody>
      </p:sp>
      <p:sp>
        <p:nvSpPr>
          <p:cNvPr id="17" name="Rounded Rectangle 16"/>
          <p:cNvSpPr/>
          <p:nvPr/>
        </p:nvSpPr>
        <p:spPr>
          <a:xfrm>
            <a:off x="6327648" y="2029968"/>
            <a:ext cx="2487168" cy="2148840"/>
          </a:xfrm>
          <a:prstGeom prst="roundRect">
            <a:avLst>
              <a:gd name="adj" fmla="val 14000"/>
            </a:avLst>
          </a:prstGeom>
          <a:solidFill>
            <a:srgbClr val="111A2E"/>
          </a:solidFill>
          <a:ln w="12700">
            <a:solidFill>
              <a:srgbClr val="293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04888" y="2359152"/>
            <a:ext cx="914400" cy="91440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493008"/>
            <a:ext cx="2157984" cy="219456"/>
          </a:xfrm>
          <a:prstGeom prst="rect">
            <a:avLst/>
          </a:prstGeom>
          <a:noFill/>
        </p:spPr>
        <p:txBody>
          <a:bodyPr wrap="square" lIns="0" rIns="0" tIns="0" bIns="0" anchor="t">
            <a:spAutoFit/>
          </a:bodyPr>
          <a:lstStyle/>
          <a:p>
            <a:pPr algn="ctr">
              <a:spcAft>
                <a:spcPts val="300"/>
              </a:spcAft>
            </a:pPr>
            <a:r>
              <a:rPr sz="1100" b="1">
                <a:solidFill>
                  <a:srgbClr val="F4F7FF"/>
                </a:solidFill>
                <a:latin typeface="Aptos"/>
              </a:rPr>
              <a:t>SUNSET</a:t>
            </a:r>
          </a:p>
        </p:txBody>
      </p:sp>
      <p:sp>
        <p:nvSpPr>
          <p:cNvPr id="20" name="TextBox 19"/>
          <p:cNvSpPr txBox="1"/>
          <p:nvPr/>
        </p:nvSpPr>
        <p:spPr>
          <a:xfrm>
            <a:off x="6492240" y="3803904"/>
            <a:ext cx="2157984" cy="256032"/>
          </a:xfrm>
          <a:prstGeom prst="rect">
            <a:avLst/>
          </a:prstGeom>
          <a:noFill/>
        </p:spPr>
        <p:txBody>
          <a:bodyPr wrap="square" lIns="0" rIns="0" tIns="0" bIns="0" anchor="t">
            <a:spAutoFit/>
          </a:bodyPr>
          <a:lstStyle/>
          <a:p>
            <a:pPr algn="ctr">
              <a:spcAft>
                <a:spcPts val="300"/>
              </a:spcAft>
            </a:pPr>
            <a:r>
              <a:rPr sz="1000" b="0">
                <a:solidFill>
                  <a:srgbClr val="A8B4CC"/>
                </a:solidFill>
                <a:latin typeface="Aptos"/>
              </a:rPr>
              <a:t>Warm orange + rose</a:t>
            </a:r>
          </a:p>
        </p:txBody>
      </p:sp>
      <p:sp>
        <p:nvSpPr>
          <p:cNvPr id="21" name="Rounded Rectangle 20"/>
          <p:cNvSpPr/>
          <p:nvPr/>
        </p:nvSpPr>
        <p:spPr>
          <a:xfrm>
            <a:off x="9116567" y="2029968"/>
            <a:ext cx="2487168" cy="2148840"/>
          </a:xfrm>
          <a:prstGeom prst="roundRect">
            <a:avLst>
              <a:gd name="adj" fmla="val 14000"/>
            </a:avLst>
          </a:prstGeom>
          <a:solidFill>
            <a:srgbClr val="111A2E"/>
          </a:solidFill>
          <a:ln w="12700">
            <a:solidFill>
              <a:srgbClr val="293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893807" y="2359152"/>
            <a:ext cx="914400" cy="91440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81159" y="3493008"/>
            <a:ext cx="2157984" cy="219456"/>
          </a:xfrm>
          <a:prstGeom prst="rect">
            <a:avLst/>
          </a:prstGeom>
          <a:noFill/>
        </p:spPr>
        <p:txBody>
          <a:bodyPr wrap="square" lIns="0" rIns="0" tIns="0" bIns="0" anchor="t">
            <a:spAutoFit/>
          </a:bodyPr>
          <a:lstStyle/>
          <a:p>
            <a:pPr algn="ctr">
              <a:spcAft>
                <a:spcPts val="300"/>
              </a:spcAft>
            </a:pPr>
            <a:r>
              <a:rPr sz="1100" b="1">
                <a:solidFill>
                  <a:srgbClr val="F4F7FF"/>
                </a:solidFill>
                <a:latin typeface="Aptos"/>
              </a:rPr>
              <a:t>FOREST</a:t>
            </a:r>
          </a:p>
        </p:txBody>
      </p:sp>
      <p:sp>
        <p:nvSpPr>
          <p:cNvPr id="24" name="TextBox 23"/>
          <p:cNvSpPr txBox="1"/>
          <p:nvPr/>
        </p:nvSpPr>
        <p:spPr>
          <a:xfrm>
            <a:off x="9281159" y="3803904"/>
            <a:ext cx="2157984" cy="256032"/>
          </a:xfrm>
          <a:prstGeom prst="rect">
            <a:avLst/>
          </a:prstGeom>
          <a:noFill/>
        </p:spPr>
        <p:txBody>
          <a:bodyPr wrap="square" lIns="0" rIns="0" tIns="0" bIns="0" anchor="t">
            <a:spAutoFit/>
          </a:bodyPr>
          <a:lstStyle/>
          <a:p>
            <a:pPr algn="ctr">
              <a:spcAft>
                <a:spcPts val="300"/>
              </a:spcAft>
            </a:pPr>
            <a:r>
              <a:rPr sz="1000" b="0">
                <a:solidFill>
                  <a:srgbClr val="A8B4CC"/>
                </a:solidFill>
                <a:latin typeface="Aptos"/>
              </a:rPr>
              <a:t>Fresh green + lime</a:t>
            </a:r>
          </a:p>
        </p:txBody>
      </p:sp>
      <p:sp>
        <p:nvSpPr>
          <p:cNvPr id="25" name="TextBox 24"/>
          <p:cNvSpPr txBox="1"/>
          <p:nvPr/>
        </p:nvSpPr>
        <p:spPr>
          <a:xfrm>
            <a:off x="841248" y="4892040"/>
            <a:ext cx="10332720" cy="384048"/>
          </a:xfrm>
          <a:prstGeom prst="rect">
            <a:avLst/>
          </a:prstGeom>
          <a:noFill/>
        </p:spPr>
        <p:txBody>
          <a:bodyPr wrap="square" lIns="0" rIns="0" tIns="0" bIns="0" anchor="t">
            <a:spAutoFit/>
          </a:bodyPr>
          <a:lstStyle/>
          <a:p>
            <a:pPr algn="l">
              <a:spcAft>
                <a:spcPts val="300"/>
              </a:spcAft>
            </a:pPr>
            <a:r>
              <a:rPr sz="1500" b="1">
                <a:solidFill>
                  <a:srgbClr val="55D6E8"/>
                </a:solidFill>
                <a:latin typeface="Aptos"/>
              </a:rPr>
              <a:t>Also: animated page entry • hover lift • reusable cards • mobile-friendly navigation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04 / RESPONSIBLE IMPLEMENTATION</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Security and reliability considerations</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17</a:t>
            </a:r>
          </a:p>
        </p:txBody>
      </p:sp>
      <p:sp>
        <p:nvSpPr>
          <p:cNvPr id="9" name="Oval 8"/>
          <p:cNvSpPr/>
          <p:nvPr/>
        </p:nvSpPr>
        <p:spPr>
          <a:xfrm>
            <a:off x="868680" y="1874519"/>
            <a:ext cx="219456" cy="219456"/>
          </a:xfrm>
          <a:prstGeom prst="ellipse">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1872" y="1828800"/>
            <a:ext cx="2011680" cy="292608"/>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Authentication</a:t>
            </a:r>
          </a:p>
        </p:txBody>
      </p:sp>
      <p:sp>
        <p:nvSpPr>
          <p:cNvPr id="11" name="TextBox 10"/>
          <p:cNvSpPr txBox="1"/>
          <p:nvPr/>
        </p:nvSpPr>
        <p:spPr>
          <a:xfrm>
            <a:off x="3383280" y="1828800"/>
            <a:ext cx="7498079" cy="365760"/>
          </a:xfrm>
          <a:prstGeom prst="rect">
            <a:avLst/>
          </a:prstGeom>
          <a:noFill/>
        </p:spPr>
        <p:txBody>
          <a:bodyPr wrap="square" lIns="0" rIns="0" tIns="0" bIns="0" anchor="t">
            <a:spAutoFit/>
          </a:bodyPr>
          <a:lstStyle/>
          <a:p>
            <a:pPr algn="l">
              <a:spcAft>
                <a:spcPts val="300"/>
              </a:spcAft>
            </a:pPr>
            <a:r>
              <a:rPr sz="1300" b="0">
                <a:solidFill>
                  <a:srgbClr val="A8B4CC"/>
                </a:solidFill>
                <a:latin typeface="Aptos"/>
              </a:rPr>
              <a:t>JWT-based protected user and session routes</a:t>
            </a:r>
          </a:p>
        </p:txBody>
      </p:sp>
      <p:sp>
        <p:nvSpPr>
          <p:cNvPr id="12" name="Oval 11"/>
          <p:cNvSpPr/>
          <p:nvPr/>
        </p:nvSpPr>
        <p:spPr>
          <a:xfrm>
            <a:off x="868680" y="2532887"/>
            <a:ext cx="219456" cy="219456"/>
          </a:xfrm>
          <a:prstGeom prst="ellipse">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2487168"/>
            <a:ext cx="2011680" cy="292608"/>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Password handling</a:t>
            </a:r>
          </a:p>
        </p:txBody>
      </p:sp>
      <p:sp>
        <p:nvSpPr>
          <p:cNvPr id="14" name="TextBox 13"/>
          <p:cNvSpPr txBox="1"/>
          <p:nvPr/>
        </p:nvSpPr>
        <p:spPr>
          <a:xfrm>
            <a:off x="3383280" y="2487168"/>
            <a:ext cx="7498079" cy="365760"/>
          </a:xfrm>
          <a:prstGeom prst="rect">
            <a:avLst/>
          </a:prstGeom>
          <a:noFill/>
        </p:spPr>
        <p:txBody>
          <a:bodyPr wrap="square" lIns="0" rIns="0" tIns="0" bIns="0" anchor="t">
            <a:spAutoFit/>
          </a:bodyPr>
          <a:lstStyle/>
          <a:p>
            <a:pPr algn="l">
              <a:spcAft>
                <a:spcPts val="300"/>
              </a:spcAft>
            </a:pPr>
            <a:r>
              <a:rPr sz="1300" b="0">
                <a:solidFill>
                  <a:srgbClr val="A8B4CC"/>
                </a:solidFill>
                <a:latin typeface="Aptos"/>
              </a:rPr>
              <a:t>Password hashing and account access controls</a:t>
            </a:r>
          </a:p>
        </p:txBody>
      </p:sp>
      <p:sp>
        <p:nvSpPr>
          <p:cNvPr id="15" name="Oval 14"/>
          <p:cNvSpPr/>
          <p:nvPr/>
        </p:nvSpPr>
        <p:spPr>
          <a:xfrm>
            <a:off x="868680" y="3191256"/>
            <a:ext cx="219456" cy="219456"/>
          </a:xfrm>
          <a:prstGeom prst="ellipse">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61872" y="3145536"/>
            <a:ext cx="2011680" cy="292608"/>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API protection</a:t>
            </a:r>
          </a:p>
        </p:txBody>
      </p:sp>
      <p:sp>
        <p:nvSpPr>
          <p:cNvPr id="17" name="TextBox 16"/>
          <p:cNvSpPr txBox="1"/>
          <p:nvPr/>
        </p:nvSpPr>
        <p:spPr>
          <a:xfrm>
            <a:off x="3383280" y="3145536"/>
            <a:ext cx="7498079" cy="365760"/>
          </a:xfrm>
          <a:prstGeom prst="rect">
            <a:avLst/>
          </a:prstGeom>
          <a:noFill/>
        </p:spPr>
        <p:txBody>
          <a:bodyPr wrap="square" lIns="0" rIns="0" tIns="0" bIns="0" anchor="t">
            <a:spAutoFit/>
          </a:bodyPr>
          <a:lstStyle/>
          <a:p>
            <a:pPr algn="l">
              <a:spcAft>
                <a:spcPts val="300"/>
              </a:spcAft>
            </a:pPr>
            <a:r>
              <a:rPr sz="1300" b="0">
                <a:solidFill>
                  <a:srgbClr val="A8B4CC"/>
                </a:solidFill>
                <a:latin typeface="Aptos"/>
              </a:rPr>
              <a:t>Helmet headers, CORS configuration, request limits</a:t>
            </a:r>
          </a:p>
        </p:txBody>
      </p:sp>
      <p:sp>
        <p:nvSpPr>
          <p:cNvPr id="18" name="Oval 17"/>
          <p:cNvSpPr/>
          <p:nvPr/>
        </p:nvSpPr>
        <p:spPr>
          <a:xfrm>
            <a:off x="868680" y="3849624"/>
            <a:ext cx="219456" cy="219456"/>
          </a:xfrm>
          <a:prstGeom prst="ellipse">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61872" y="3803904"/>
            <a:ext cx="2011680" cy="292608"/>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Audio handling</a:t>
            </a:r>
          </a:p>
        </p:txBody>
      </p:sp>
      <p:sp>
        <p:nvSpPr>
          <p:cNvPr id="20" name="TextBox 19"/>
          <p:cNvSpPr txBox="1"/>
          <p:nvPr/>
        </p:nvSpPr>
        <p:spPr>
          <a:xfrm>
            <a:off x="3383280" y="3803904"/>
            <a:ext cx="7498079" cy="365760"/>
          </a:xfrm>
          <a:prstGeom prst="rect">
            <a:avLst/>
          </a:prstGeom>
          <a:noFill/>
        </p:spPr>
        <p:txBody>
          <a:bodyPr wrap="square" lIns="0" rIns="0" tIns="0" bIns="0" anchor="t">
            <a:spAutoFit/>
          </a:bodyPr>
          <a:lstStyle/>
          <a:p>
            <a:pPr algn="l">
              <a:spcAft>
                <a:spcPts val="300"/>
              </a:spcAft>
            </a:pPr>
            <a:r>
              <a:rPr sz="1300" b="0">
                <a:solidFill>
                  <a:srgbClr val="A8B4CC"/>
                </a:solidFill>
                <a:latin typeface="Aptos"/>
              </a:rPr>
              <a:t>Upload size validation and temporary-file cleanup</a:t>
            </a:r>
          </a:p>
        </p:txBody>
      </p:sp>
      <p:sp>
        <p:nvSpPr>
          <p:cNvPr id="21" name="Oval 20"/>
          <p:cNvSpPr/>
          <p:nvPr/>
        </p:nvSpPr>
        <p:spPr>
          <a:xfrm>
            <a:off x="868680" y="4507992"/>
            <a:ext cx="219456" cy="219456"/>
          </a:xfrm>
          <a:prstGeom prst="ellipse">
            <a:avLst/>
          </a:prstGeom>
          <a:solidFill>
            <a:srgbClr val="F5C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61872" y="4462272"/>
            <a:ext cx="2011680" cy="292608"/>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AI resilience</a:t>
            </a:r>
          </a:p>
        </p:txBody>
      </p:sp>
      <p:sp>
        <p:nvSpPr>
          <p:cNvPr id="23" name="TextBox 22"/>
          <p:cNvSpPr txBox="1"/>
          <p:nvPr/>
        </p:nvSpPr>
        <p:spPr>
          <a:xfrm>
            <a:off x="3383280" y="4462272"/>
            <a:ext cx="7498079" cy="365760"/>
          </a:xfrm>
          <a:prstGeom prst="rect">
            <a:avLst/>
          </a:prstGeom>
          <a:noFill/>
        </p:spPr>
        <p:txBody>
          <a:bodyPr wrap="square" lIns="0" rIns="0" tIns="0" bIns="0" anchor="t">
            <a:spAutoFit/>
          </a:bodyPr>
          <a:lstStyle/>
          <a:p>
            <a:pPr algn="l">
              <a:spcAft>
                <a:spcPts val="300"/>
              </a:spcAft>
            </a:pPr>
            <a:r>
              <a:rPr sz="1300" b="0">
                <a:solidFill>
                  <a:srgbClr val="A8B4CC"/>
                </a:solidFill>
                <a:latin typeface="Aptos"/>
              </a:rPr>
              <a:t>Retry handling for temporary provider failures</a:t>
            </a:r>
          </a:p>
        </p:txBody>
      </p:sp>
      <p:sp>
        <p:nvSpPr>
          <p:cNvPr id="24" name="TextBox 23"/>
          <p:cNvSpPr txBox="1"/>
          <p:nvPr/>
        </p:nvSpPr>
        <p:spPr>
          <a:xfrm>
            <a:off x="868680" y="5486400"/>
            <a:ext cx="10515600" cy="320040"/>
          </a:xfrm>
          <a:prstGeom prst="rect">
            <a:avLst/>
          </a:prstGeom>
          <a:noFill/>
        </p:spPr>
        <p:txBody>
          <a:bodyPr wrap="square" lIns="0" rIns="0" tIns="0" bIns="0" anchor="t">
            <a:spAutoFit/>
          </a:bodyPr>
          <a:lstStyle/>
          <a:p>
            <a:pPr algn="l">
              <a:spcAft>
                <a:spcPts val="300"/>
              </a:spcAft>
            </a:pPr>
            <a:r>
              <a:rPr sz="1400" b="1">
                <a:solidFill>
                  <a:srgbClr val="55D6E8"/>
                </a:solidFill>
                <a:latin typeface="Aptos"/>
              </a:rPr>
              <a:t>Configuration note: deployment secrets belong in environment settings, never in source control.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05 / SUGGESTED PRESENTATION FLOW</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A 2-minute demo you can present</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18</a:t>
            </a:r>
          </a:p>
        </p:txBody>
      </p:sp>
      <p:sp>
        <p:nvSpPr>
          <p:cNvPr id="9" name="Oval 8"/>
          <p:cNvSpPr/>
          <p:nvPr/>
        </p:nvSpPr>
        <p:spPr>
          <a:xfrm>
            <a:off x="777240" y="1874519"/>
            <a:ext cx="438912" cy="438912"/>
          </a:xfrm>
          <a:prstGeom prst="ellipse">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65960"/>
            <a:ext cx="438912" cy="219456"/>
          </a:xfrm>
          <a:prstGeom prst="rect">
            <a:avLst/>
          </a:prstGeom>
          <a:noFill/>
        </p:spPr>
        <p:txBody>
          <a:bodyPr wrap="square" lIns="0" rIns="0" tIns="0" bIns="0" anchor="t">
            <a:spAutoFit/>
          </a:bodyPr>
          <a:lstStyle/>
          <a:p>
            <a:pPr algn="ctr">
              <a:spcAft>
                <a:spcPts val="300"/>
              </a:spcAft>
            </a:pPr>
            <a:r>
              <a:rPr sz="1300" b="1">
                <a:solidFill>
                  <a:srgbClr val="080D1C"/>
                </a:solidFill>
                <a:latin typeface="Aptos"/>
              </a:rPr>
              <a:t>1</a:t>
            </a:r>
          </a:p>
        </p:txBody>
      </p:sp>
      <p:sp>
        <p:nvSpPr>
          <p:cNvPr id="11" name="TextBox 10"/>
          <p:cNvSpPr txBox="1"/>
          <p:nvPr/>
        </p:nvSpPr>
        <p:spPr>
          <a:xfrm>
            <a:off x="1435607" y="1892807"/>
            <a:ext cx="4526280" cy="585216"/>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Open the home page and explain the purpose.</a:t>
            </a:r>
          </a:p>
        </p:txBody>
      </p:sp>
      <p:sp>
        <p:nvSpPr>
          <p:cNvPr id="12" name="Oval 11"/>
          <p:cNvSpPr/>
          <p:nvPr/>
        </p:nvSpPr>
        <p:spPr>
          <a:xfrm>
            <a:off x="777240" y="2953511"/>
            <a:ext cx="438912" cy="438912"/>
          </a:xfrm>
          <a:prstGeom prst="ellipse">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44951"/>
            <a:ext cx="438912" cy="219456"/>
          </a:xfrm>
          <a:prstGeom prst="rect">
            <a:avLst/>
          </a:prstGeom>
          <a:noFill/>
        </p:spPr>
        <p:txBody>
          <a:bodyPr wrap="square" lIns="0" rIns="0" tIns="0" bIns="0" anchor="t">
            <a:spAutoFit/>
          </a:bodyPr>
          <a:lstStyle/>
          <a:p>
            <a:pPr algn="ctr">
              <a:spcAft>
                <a:spcPts val="300"/>
              </a:spcAft>
            </a:pPr>
            <a:r>
              <a:rPr sz="1300" b="1">
                <a:solidFill>
                  <a:srgbClr val="080D1C"/>
                </a:solidFill>
                <a:latin typeface="Aptos"/>
              </a:rPr>
              <a:t>2</a:t>
            </a:r>
          </a:p>
        </p:txBody>
      </p:sp>
      <p:sp>
        <p:nvSpPr>
          <p:cNvPr id="14" name="TextBox 13"/>
          <p:cNvSpPr txBox="1"/>
          <p:nvPr/>
        </p:nvSpPr>
        <p:spPr>
          <a:xfrm>
            <a:off x="1435607" y="2971799"/>
            <a:ext cx="4526280" cy="585216"/>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Register or sign in, then open the dashboard.</a:t>
            </a:r>
          </a:p>
        </p:txBody>
      </p:sp>
      <p:sp>
        <p:nvSpPr>
          <p:cNvPr id="15" name="Oval 14"/>
          <p:cNvSpPr/>
          <p:nvPr/>
        </p:nvSpPr>
        <p:spPr>
          <a:xfrm>
            <a:off x="777240" y="4032504"/>
            <a:ext cx="438912" cy="438912"/>
          </a:xfrm>
          <a:prstGeom prst="ellipse">
            <a:avLst/>
          </a:prstGeom>
          <a:solidFill>
            <a:srgbClr val="F28B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123944"/>
            <a:ext cx="438912" cy="219456"/>
          </a:xfrm>
          <a:prstGeom prst="rect">
            <a:avLst/>
          </a:prstGeom>
          <a:noFill/>
        </p:spPr>
        <p:txBody>
          <a:bodyPr wrap="square" lIns="0" rIns="0" tIns="0" bIns="0" anchor="t">
            <a:spAutoFit/>
          </a:bodyPr>
          <a:lstStyle/>
          <a:p>
            <a:pPr algn="ctr">
              <a:spcAft>
                <a:spcPts val="300"/>
              </a:spcAft>
            </a:pPr>
            <a:r>
              <a:rPr sz="1300" b="1">
                <a:solidFill>
                  <a:srgbClr val="080D1C"/>
                </a:solidFill>
                <a:latin typeface="Aptos"/>
              </a:rPr>
              <a:t>3</a:t>
            </a:r>
          </a:p>
        </p:txBody>
      </p:sp>
      <p:sp>
        <p:nvSpPr>
          <p:cNvPr id="17" name="TextBox 16"/>
          <p:cNvSpPr txBox="1"/>
          <p:nvPr/>
        </p:nvSpPr>
        <p:spPr>
          <a:xfrm>
            <a:off x="1435607" y="4050791"/>
            <a:ext cx="4526280" cy="585216"/>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Select a role, level, format, and question count.</a:t>
            </a:r>
          </a:p>
        </p:txBody>
      </p:sp>
      <p:sp>
        <p:nvSpPr>
          <p:cNvPr id="18" name="Oval 17"/>
          <p:cNvSpPr/>
          <p:nvPr/>
        </p:nvSpPr>
        <p:spPr>
          <a:xfrm>
            <a:off x="6309359" y="1874519"/>
            <a:ext cx="438912" cy="438912"/>
          </a:xfrm>
          <a:prstGeom prst="ellipse">
            <a:avLst/>
          </a:prstGeom>
          <a:solidFill>
            <a:srgbClr val="61D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59" y="1965960"/>
            <a:ext cx="438912" cy="219456"/>
          </a:xfrm>
          <a:prstGeom prst="rect">
            <a:avLst/>
          </a:prstGeom>
          <a:noFill/>
        </p:spPr>
        <p:txBody>
          <a:bodyPr wrap="square" lIns="0" rIns="0" tIns="0" bIns="0" anchor="t">
            <a:spAutoFit/>
          </a:bodyPr>
          <a:lstStyle/>
          <a:p>
            <a:pPr algn="ctr">
              <a:spcAft>
                <a:spcPts val="300"/>
              </a:spcAft>
            </a:pPr>
            <a:r>
              <a:rPr sz="1300" b="1">
                <a:solidFill>
                  <a:srgbClr val="080D1C"/>
                </a:solidFill>
                <a:latin typeface="Aptos"/>
              </a:rPr>
              <a:t>4</a:t>
            </a:r>
          </a:p>
        </p:txBody>
      </p:sp>
      <p:sp>
        <p:nvSpPr>
          <p:cNvPr id="20" name="TextBox 19"/>
          <p:cNvSpPr txBox="1"/>
          <p:nvPr/>
        </p:nvSpPr>
        <p:spPr>
          <a:xfrm>
            <a:off x="6967727" y="1892807"/>
            <a:ext cx="4526280" cy="585216"/>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Start a session and point out the generated question.</a:t>
            </a:r>
          </a:p>
        </p:txBody>
      </p:sp>
      <p:sp>
        <p:nvSpPr>
          <p:cNvPr id="21" name="Oval 20"/>
          <p:cNvSpPr/>
          <p:nvPr/>
        </p:nvSpPr>
        <p:spPr>
          <a:xfrm>
            <a:off x="6309359" y="2953511"/>
            <a:ext cx="438912" cy="438912"/>
          </a:xfrm>
          <a:prstGeom prst="ellipse">
            <a:avLst/>
          </a:prstGeom>
          <a:solidFill>
            <a:srgbClr val="F5C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59" y="3044951"/>
            <a:ext cx="438912" cy="219456"/>
          </a:xfrm>
          <a:prstGeom prst="rect">
            <a:avLst/>
          </a:prstGeom>
          <a:noFill/>
        </p:spPr>
        <p:txBody>
          <a:bodyPr wrap="square" lIns="0" rIns="0" tIns="0" bIns="0" anchor="t">
            <a:spAutoFit/>
          </a:bodyPr>
          <a:lstStyle/>
          <a:p>
            <a:pPr algn="ctr">
              <a:spcAft>
                <a:spcPts val="300"/>
              </a:spcAft>
            </a:pPr>
            <a:r>
              <a:rPr sz="1300" b="1">
                <a:solidFill>
                  <a:srgbClr val="080D1C"/>
                </a:solidFill>
                <a:latin typeface="Aptos"/>
              </a:rPr>
              <a:t>5</a:t>
            </a:r>
          </a:p>
        </p:txBody>
      </p:sp>
      <p:sp>
        <p:nvSpPr>
          <p:cNvPr id="23" name="TextBox 22"/>
          <p:cNvSpPr txBox="1"/>
          <p:nvPr/>
        </p:nvSpPr>
        <p:spPr>
          <a:xfrm>
            <a:off x="6967727" y="2971799"/>
            <a:ext cx="4526280" cy="585216"/>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Record a short answer or enter code, then submit.</a:t>
            </a:r>
          </a:p>
        </p:txBody>
      </p:sp>
      <p:sp>
        <p:nvSpPr>
          <p:cNvPr id="24" name="Oval 23"/>
          <p:cNvSpPr/>
          <p:nvPr/>
        </p:nvSpPr>
        <p:spPr>
          <a:xfrm>
            <a:off x="6309359" y="4032504"/>
            <a:ext cx="438912" cy="438912"/>
          </a:xfrm>
          <a:prstGeom prst="ellipse">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59" y="4123944"/>
            <a:ext cx="438912" cy="219456"/>
          </a:xfrm>
          <a:prstGeom prst="rect">
            <a:avLst/>
          </a:prstGeom>
          <a:noFill/>
        </p:spPr>
        <p:txBody>
          <a:bodyPr wrap="square" lIns="0" rIns="0" tIns="0" bIns="0" anchor="t">
            <a:spAutoFit/>
          </a:bodyPr>
          <a:lstStyle/>
          <a:p>
            <a:pPr algn="ctr">
              <a:spcAft>
                <a:spcPts val="300"/>
              </a:spcAft>
            </a:pPr>
            <a:r>
              <a:rPr sz="1300" b="1">
                <a:solidFill>
                  <a:srgbClr val="080D1C"/>
                </a:solidFill>
                <a:latin typeface="Aptos"/>
              </a:rPr>
              <a:t>6</a:t>
            </a:r>
          </a:p>
        </p:txBody>
      </p:sp>
      <p:sp>
        <p:nvSpPr>
          <p:cNvPr id="26" name="TextBox 25"/>
          <p:cNvSpPr txBox="1"/>
          <p:nvPr/>
        </p:nvSpPr>
        <p:spPr>
          <a:xfrm>
            <a:off x="6967727" y="4050791"/>
            <a:ext cx="4526280" cy="585216"/>
          </a:xfrm>
          <a:prstGeom prst="rect">
            <a:avLst/>
          </a:prstGeom>
          <a:noFill/>
        </p:spPr>
        <p:txBody>
          <a:bodyPr wrap="square" lIns="0" rIns="0" tIns="0" bIns="0" anchor="t">
            <a:spAutoFit/>
          </a:bodyPr>
          <a:lstStyle/>
          <a:p>
            <a:pPr algn="l">
              <a:spcAft>
                <a:spcPts val="300"/>
              </a:spcAft>
            </a:pPr>
            <a:r>
              <a:rPr sz="1400" b="1">
                <a:solidFill>
                  <a:srgbClr val="F4F7FF"/>
                </a:solidFill>
                <a:latin typeface="Aptos"/>
              </a:rPr>
              <a:t>Open the review page and explain scores + feedback.</a:t>
            </a:r>
          </a:p>
        </p:txBody>
      </p:sp>
      <p:sp>
        <p:nvSpPr>
          <p:cNvPr id="27" name="TextBox 26"/>
          <p:cNvSpPr txBox="1"/>
          <p:nvPr/>
        </p:nvSpPr>
        <p:spPr>
          <a:xfrm>
            <a:off x="822960" y="5532120"/>
            <a:ext cx="10058400" cy="320040"/>
          </a:xfrm>
          <a:prstGeom prst="rect">
            <a:avLst/>
          </a:prstGeom>
          <a:noFill/>
        </p:spPr>
        <p:txBody>
          <a:bodyPr wrap="square" lIns="0" rIns="0" tIns="0" bIns="0" anchor="t">
            <a:spAutoFit/>
          </a:bodyPr>
          <a:lstStyle/>
          <a:p>
            <a:pPr algn="l">
              <a:spcAft>
                <a:spcPts val="300"/>
              </a:spcAft>
            </a:pPr>
            <a:r>
              <a:rPr sz="1400" b="0">
                <a:solidFill>
                  <a:srgbClr val="A8B4CC"/>
                </a:solidFill>
                <a:latin typeface="Aptos"/>
              </a:rPr>
              <a:t>Tip: have an account ready and test the microphone before your presentation.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D1C"/>
        </a:solidFill>
        <a:effectLst/>
      </p:bgPr>
    </p:bg>
    <p:spTree>
      <p:nvGrpSpPr>
        <p:cNvPr id="1" name=""/>
        <p:cNvGrpSpPr/>
        <p:nvPr/>
      </p:nvGrpSpPr>
      <p:grpSpPr/>
      <p:sp>
        <p:nvSpPr>
          <p:cNvPr id="2" name="Oval 1"/>
          <p:cNvSpPr/>
          <p:nvPr/>
        </p:nvSpPr>
        <p:spPr>
          <a:xfrm>
            <a:off x="9875520" y="-1463040"/>
            <a:ext cx="3840480" cy="3840480"/>
          </a:xfrm>
          <a:prstGeom prst="ellipse">
            <a:avLst/>
          </a:prstGeom>
          <a:solidFill>
            <a:srgbClr val="111A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731520"/>
            <a:ext cx="2286000" cy="2286000"/>
          </a:xfrm>
          <a:prstGeom prst="ellipse">
            <a:avLst/>
          </a:prstGeom>
          <a:solidFill>
            <a:srgbClr val="171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11480"/>
            <a:ext cx="4572000" cy="228600"/>
          </a:xfrm>
          <a:prstGeom prst="rect">
            <a:avLst/>
          </a:prstGeom>
          <a:noFill/>
        </p:spPr>
        <p:txBody>
          <a:bodyPr wrap="square" lIns="0" rIns="0" tIns="0" bIns="0" anchor="t">
            <a:spAutoFit/>
          </a:bodyPr>
          <a:lstStyle/>
          <a:p>
            <a:pPr algn="l">
              <a:spcAft>
                <a:spcPts val="300"/>
              </a:spcAft>
            </a:pPr>
            <a:r>
              <a:rPr sz="1000" b="1">
                <a:solidFill>
                  <a:srgbClr val="55D6E8"/>
                </a:solidFill>
                <a:latin typeface="Aptos"/>
              </a:rPr>
              <a:t>06 / WRAP-UP</a:t>
            </a:r>
          </a:p>
        </p:txBody>
      </p:sp>
      <p:sp>
        <p:nvSpPr>
          <p:cNvPr id="5" name="TextBox 4"/>
          <p:cNvSpPr txBox="1"/>
          <p:nvPr/>
        </p:nvSpPr>
        <p:spPr>
          <a:xfrm>
            <a:off x="658368" y="804672"/>
            <a:ext cx="10698480" cy="502920"/>
          </a:xfrm>
          <a:prstGeom prst="rect">
            <a:avLst/>
          </a:prstGeom>
          <a:noFill/>
        </p:spPr>
        <p:txBody>
          <a:bodyPr wrap="square" lIns="0" rIns="0" tIns="0" bIns="0" anchor="t">
            <a:spAutoFit/>
          </a:bodyPr>
          <a:lstStyle/>
          <a:p>
            <a:pPr algn="l">
              <a:spcAft>
                <a:spcPts val="300"/>
              </a:spcAft>
            </a:pPr>
            <a:r>
              <a:rPr sz="2700" b="1">
                <a:solidFill>
                  <a:srgbClr val="F4F7FF"/>
                </a:solidFill>
                <a:latin typeface="Aptos"/>
              </a:rPr>
              <a:t>Conclusion: practice, understand, improve</a:t>
            </a:r>
          </a:p>
        </p:txBody>
      </p:sp>
      <p:sp>
        <p:nvSpPr>
          <p:cNvPr id="6" name="Rectangle 5"/>
          <p:cNvSpPr/>
          <p:nvPr/>
        </p:nvSpPr>
        <p:spPr>
          <a:xfrm>
            <a:off x="658368" y="6464808"/>
            <a:ext cx="10881360" cy="10972"/>
          </a:xfrm>
          <a:prstGeom prst="rect">
            <a:avLst/>
          </a:prstGeom>
          <a:solidFill>
            <a:srgbClr val="29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519672"/>
            <a:ext cx="5486400" cy="164592"/>
          </a:xfrm>
          <a:prstGeom prst="rect">
            <a:avLst/>
          </a:prstGeom>
          <a:noFill/>
        </p:spPr>
        <p:txBody>
          <a:bodyPr wrap="square" lIns="0" rIns="0" tIns="0" bIns="0" anchor="t">
            <a:spAutoFit/>
          </a:bodyPr>
          <a:lstStyle/>
          <a:p>
            <a:pPr algn="l">
              <a:spcAft>
                <a:spcPts val="300"/>
              </a:spcAft>
            </a:pPr>
            <a:r>
              <a:rPr sz="800" b="1">
                <a:solidFill>
                  <a:srgbClr val="74819B"/>
                </a:solidFill>
                <a:latin typeface="Aptos"/>
              </a:rPr>
              <a:t>AI INTERVIEWER  /  MINI PROJECT</a:t>
            </a:r>
          </a:p>
        </p:txBody>
      </p:sp>
      <p:sp>
        <p:nvSpPr>
          <p:cNvPr id="8" name="TextBox 7"/>
          <p:cNvSpPr txBox="1"/>
          <p:nvPr/>
        </p:nvSpPr>
        <p:spPr>
          <a:xfrm>
            <a:off x="10991088" y="6501384"/>
            <a:ext cx="502920" cy="201168"/>
          </a:xfrm>
          <a:prstGeom prst="rect">
            <a:avLst/>
          </a:prstGeom>
          <a:noFill/>
        </p:spPr>
        <p:txBody>
          <a:bodyPr wrap="square" lIns="0" rIns="0" tIns="0" bIns="0" anchor="t">
            <a:spAutoFit/>
          </a:bodyPr>
          <a:lstStyle/>
          <a:p>
            <a:pPr algn="r">
              <a:spcAft>
                <a:spcPts val="300"/>
              </a:spcAft>
            </a:pPr>
            <a:r>
              <a:rPr sz="900" b="1">
                <a:solidFill>
                  <a:srgbClr val="A8B4CC"/>
                </a:solidFill>
                <a:latin typeface="Aptos"/>
              </a:rPr>
              <a:t>19</a:t>
            </a:r>
          </a:p>
        </p:txBody>
      </p:sp>
      <p:sp>
        <p:nvSpPr>
          <p:cNvPr id="9" name="Rounded Rectangle 8"/>
          <p:cNvSpPr/>
          <p:nvPr/>
        </p:nvSpPr>
        <p:spPr>
          <a:xfrm>
            <a:off x="777240" y="1874519"/>
            <a:ext cx="4800600" cy="196596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020824"/>
            <a:ext cx="50292" cy="1673351"/>
          </a:xfrm>
          <a:prstGeom prst="rect">
            <a:avLst/>
          </a:prstGeom>
          <a:solidFill>
            <a:srgbClr val="55D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112263"/>
            <a:ext cx="441655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What the project delivers</a:t>
            </a:r>
          </a:p>
        </p:txBody>
      </p:sp>
      <p:sp>
        <p:nvSpPr>
          <p:cNvPr id="12" name="TextBox 11"/>
          <p:cNvSpPr txBox="1"/>
          <p:nvPr/>
        </p:nvSpPr>
        <p:spPr>
          <a:xfrm>
            <a:off x="978408" y="2542031"/>
            <a:ext cx="4389120" cy="1197864"/>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A guided interview practice flow combining generated questions, voice or code answers, evaluation, and session review.</a:t>
            </a:r>
          </a:p>
        </p:txBody>
      </p:sp>
      <p:sp>
        <p:nvSpPr>
          <p:cNvPr id="13" name="Rounded Rectangle 12"/>
          <p:cNvSpPr/>
          <p:nvPr/>
        </p:nvSpPr>
        <p:spPr>
          <a:xfrm>
            <a:off x="5852160" y="1874519"/>
            <a:ext cx="5349240" cy="1965960"/>
          </a:xfrm>
          <a:prstGeom prst="roundRect">
            <a:avLst>
              <a:gd name="adj" fmla="val 14000"/>
            </a:avLst>
          </a:prstGeom>
          <a:solidFill>
            <a:srgbClr val="111A2E"/>
          </a:solidFill>
          <a:ln w="1270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52160" y="2020824"/>
            <a:ext cx="50292" cy="1673351"/>
          </a:xfrm>
          <a:prstGeom prst="rect">
            <a:avLst/>
          </a:prstGeom>
          <a:solidFill>
            <a:srgbClr val="9A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53328" y="2112263"/>
            <a:ext cx="4965192" cy="320040"/>
          </a:xfrm>
          <a:prstGeom prst="rect">
            <a:avLst/>
          </a:prstGeom>
          <a:noFill/>
        </p:spPr>
        <p:txBody>
          <a:bodyPr wrap="square" lIns="0" rIns="0" tIns="0" bIns="0" anchor="t">
            <a:spAutoFit/>
          </a:bodyPr>
          <a:lstStyle/>
          <a:p>
            <a:pPr algn="l">
              <a:spcAft>
                <a:spcPts val="300"/>
              </a:spcAft>
            </a:pPr>
            <a:r>
              <a:rPr sz="1600" b="1">
                <a:solidFill>
                  <a:srgbClr val="F4F7FF"/>
                </a:solidFill>
                <a:latin typeface="Aptos"/>
              </a:rPr>
              <a:t>Future enhancements</a:t>
            </a:r>
          </a:p>
        </p:txBody>
      </p:sp>
      <p:sp>
        <p:nvSpPr>
          <p:cNvPr id="16" name="TextBox 15"/>
          <p:cNvSpPr txBox="1"/>
          <p:nvPr/>
        </p:nvSpPr>
        <p:spPr>
          <a:xfrm>
            <a:off x="6053328" y="2542031"/>
            <a:ext cx="4937759" cy="1197864"/>
          </a:xfrm>
          <a:prstGeom prst="rect">
            <a:avLst/>
          </a:prstGeom>
          <a:noFill/>
        </p:spPr>
        <p:txBody>
          <a:bodyPr wrap="square" lIns="0" rIns="0" tIns="0" bIns="0" anchor="t">
            <a:spAutoFit/>
          </a:bodyPr>
          <a:lstStyle/>
          <a:p>
            <a:pPr algn="l">
              <a:spcAft>
                <a:spcPts val="300"/>
              </a:spcAft>
            </a:pPr>
            <a:r>
              <a:rPr sz="1200" b="0">
                <a:solidFill>
                  <a:srgbClr val="A8B4CC"/>
                </a:solidFill>
                <a:latin typeface="Aptos"/>
              </a:rPr>
              <a:t>Automated end-to-end tests</a:t>
            </a:r>
          </a:p>
          <a:p>
            <a:pPr algn="l">
              <a:spcAft>
                <a:spcPts val="300"/>
              </a:spcAft>
            </a:pPr>
            <a:r>
              <a:rPr sz="1200" b="0">
                <a:solidFill>
                  <a:srgbClr val="A8B4CC"/>
                </a:solidFill>
                <a:latin typeface="Aptos"/>
              </a:rPr>
              <a:t>Background AI job queues</a:t>
            </a:r>
          </a:p>
          <a:p>
            <a:pPr algn="l">
              <a:spcAft>
                <a:spcPts val="300"/>
              </a:spcAft>
            </a:pPr>
            <a:r>
              <a:rPr sz="1200" b="0">
                <a:solidFill>
                  <a:srgbClr val="A8B4CC"/>
                </a:solidFill>
                <a:latin typeface="Aptos"/>
              </a:rPr>
              <a:t>Long-term progress analytics</a:t>
            </a:r>
          </a:p>
          <a:p>
            <a:pPr algn="l">
              <a:spcAft>
                <a:spcPts val="300"/>
              </a:spcAft>
            </a:pPr>
            <a:r>
              <a:rPr sz="1200" b="0">
                <a:solidFill>
                  <a:srgbClr val="A8B4CC"/>
                </a:solidFill>
                <a:latin typeface="Aptos"/>
              </a:rPr>
              <a:t>Mock mode for quota-free practice</a:t>
            </a:r>
          </a:p>
        </p:txBody>
      </p:sp>
      <p:sp>
        <p:nvSpPr>
          <p:cNvPr id="17" name="TextBox 16"/>
          <p:cNvSpPr txBox="1"/>
          <p:nvPr/>
        </p:nvSpPr>
        <p:spPr>
          <a:xfrm>
            <a:off x="822960" y="4617720"/>
            <a:ext cx="3931920" cy="658368"/>
          </a:xfrm>
          <a:prstGeom prst="rect">
            <a:avLst/>
          </a:prstGeom>
          <a:noFill/>
        </p:spPr>
        <p:txBody>
          <a:bodyPr wrap="square" lIns="0" rIns="0" tIns="0" bIns="0" anchor="t">
            <a:spAutoFit/>
          </a:bodyPr>
          <a:lstStyle/>
          <a:p>
            <a:pPr algn="l">
              <a:spcAft>
                <a:spcPts val="300"/>
              </a:spcAft>
            </a:pPr>
            <a:r>
              <a:rPr sz="3400" b="1">
                <a:solidFill>
                  <a:srgbClr val="F4F7FF"/>
                </a:solidFill>
                <a:latin typeface="Aptos"/>
              </a:rPr>
              <a:t>Thank you</a:t>
            </a:r>
          </a:p>
        </p:txBody>
      </p:sp>
      <p:sp>
        <p:nvSpPr>
          <p:cNvPr id="18" name="TextBox 17"/>
          <p:cNvSpPr txBox="1"/>
          <p:nvPr/>
        </p:nvSpPr>
        <p:spPr>
          <a:xfrm>
            <a:off x="841248" y="5394960"/>
            <a:ext cx="2926080" cy="384048"/>
          </a:xfrm>
          <a:prstGeom prst="rect">
            <a:avLst/>
          </a:prstGeom>
          <a:noFill/>
        </p:spPr>
        <p:txBody>
          <a:bodyPr wrap="square" lIns="0" rIns="0" tIns="0" bIns="0" anchor="t">
            <a:spAutoFit/>
          </a:bodyPr>
          <a:lstStyle/>
          <a:p>
            <a:pPr algn="l">
              <a:spcAft>
                <a:spcPts val="300"/>
              </a:spcAft>
            </a:pPr>
            <a:r>
              <a:rPr sz="2100" b="1">
                <a:solidFill>
                  <a:srgbClr val="55D6E8"/>
                </a:solidFill>
                <a:latin typeface="Aptos"/>
              </a:rPr>
              <a:t>Questions?</a:t>
            </a:r>
          </a:p>
        </p:txBody>
      </p:sp>
      <p:sp>
        <p:nvSpPr>
          <p:cNvPr id="19" name="TextBox 18"/>
          <p:cNvSpPr txBox="1"/>
          <p:nvPr/>
        </p:nvSpPr>
        <p:spPr>
          <a:xfrm>
            <a:off x="6766560" y="5532120"/>
            <a:ext cx="4297680" cy="274320"/>
          </a:xfrm>
          <a:prstGeom prst="rect">
            <a:avLst/>
          </a:prstGeom>
          <a:noFill/>
        </p:spPr>
        <p:txBody>
          <a:bodyPr wrap="square" lIns="0" rIns="0" tIns="0" bIns="0" anchor="t">
            <a:spAutoFit/>
          </a:bodyPr>
          <a:lstStyle/>
          <a:p>
            <a:pPr algn="r">
              <a:spcAft>
                <a:spcPts val="300"/>
              </a:spcAft>
            </a:pPr>
            <a:r>
              <a:rPr sz="1200" b="0">
                <a:solidFill>
                  <a:srgbClr val="A8B4CC"/>
                </a:solidFill>
                <a:latin typeface="Aptos"/>
              </a:rPr>
              <a:t>AI Interviewer  •  Presented by [Your Name]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